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  <p:sldId id="290" r:id="rId38"/>
    <p:sldId id="291" r:id="rId39"/>
    <p:sldId id="292" r:id="rId40"/>
    <p:sldId id="293" r:id="rId41"/>
    <p:sldId id="294" r:id="rId42"/>
    <p:sldId id="295" r:id="rId43"/>
    <p:sldId id="296" r:id="rId44"/>
    <p:sldId id="297" r:id="rId45"/>
    <p:sldId id="298" r:id="rId46"/>
    <p:sldId id="299" r:id="rId47"/>
    <p:sldId id="300" r:id="rId48"/>
    <p:sldId id="301" r:id="rId49"/>
    <p:sldId id="302" r:id="rId50"/>
    <p:sldId id="303" r:id="rId51"/>
    <p:sldId id="304" r:id="rId52"/>
    <p:sldId id="305" r:id="rId53"/>
    <p:sldId id="306" r:id="rId54"/>
    <p:sldId id="307" r:id="rId55"/>
    <p:sldId id="308" r:id="rId56"/>
    <p:sldId id="309" r:id="rId57"/>
    <p:sldId id="310" r:id="rId58"/>
    <p:sldId id="311" r:id="rId59"/>
    <p:sldId id="312" r:id="rId60"/>
    <p:sldId id="313" r:id="rId61"/>
    <p:sldId id="314" r:id="rId62"/>
    <p:sldId id="315" r:id="rId63"/>
    <p:sldId id="316" r:id="rId64"/>
    <p:sldId id="317" r:id="rId65"/>
    <p:sldId id="318" r:id="rId66"/>
    <p:sldId id="319" r:id="rId67"/>
    <p:sldId id="320" r:id="rId68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1" Type="http://schemas.openxmlformats.org/officeDocument/2006/relationships/tableStyles" Target="tableStyles.xml"/><Relationship Id="rId70" Type="http://schemas.openxmlformats.org/officeDocument/2006/relationships/viewProps" Target="viewProps.xml"/><Relationship Id="rId7" Type="http://schemas.openxmlformats.org/officeDocument/2006/relationships/slide" Target="slides/slide4.xml"/><Relationship Id="rId69" Type="http://schemas.openxmlformats.org/officeDocument/2006/relationships/presProps" Target="presProps.xml"/><Relationship Id="rId68" Type="http://schemas.openxmlformats.org/officeDocument/2006/relationships/slide" Target="slides/slide65.xml"/><Relationship Id="rId67" Type="http://schemas.openxmlformats.org/officeDocument/2006/relationships/slide" Target="slides/slide64.xml"/><Relationship Id="rId66" Type="http://schemas.openxmlformats.org/officeDocument/2006/relationships/slide" Target="slides/slide63.xml"/><Relationship Id="rId65" Type="http://schemas.openxmlformats.org/officeDocument/2006/relationships/slide" Target="slides/slide62.xml"/><Relationship Id="rId64" Type="http://schemas.openxmlformats.org/officeDocument/2006/relationships/slide" Target="slides/slide61.xml"/><Relationship Id="rId63" Type="http://schemas.openxmlformats.org/officeDocument/2006/relationships/slide" Target="slides/slide60.xml"/><Relationship Id="rId62" Type="http://schemas.openxmlformats.org/officeDocument/2006/relationships/slide" Target="slides/slide59.xml"/><Relationship Id="rId61" Type="http://schemas.openxmlformats.org/officeDocument/2006/relationships/slide" Target="slides/slide58.xml"/><Relationship Id="rId60" Type="http://schemas.openxmlformats.org/officeDocument/2006/relationships/slide" Target="slides/slide57.xml"/><Relationship Id="rId6" Type="http://schemas.openxmlformats.org/officeDocument/2006/relationships/slide" Target="slides/slide3.xml"/><Relationship Id="rId59" Type="http://schemas.openxmlformats.org/officeDocument/2006/relationships/slide" Target="slides/slide56.xml"/><Relationship Id="rId58" Type="http://schemas.openxmlformats.org/officeDocument/2006/relationships/slide" Target="slides/slide55.xml"/><Relationship Id="rId57" Type="http://schemas.openxmlformats.org/officeDocument/2006/relationships/slide" Target="slides/slide54.xml"/><Relationship Id="rId56" Type="http://schemas.openxmlformats.org/officeDocument/2006/relationships/slide" Target="slides/slide53.xml"/><Relationship Id="rId55" Type="http://schemas.openxmlformats.org/officeDocument/2006/relationships/slide" Target="slides/slide52.xml"/><Relationship Id="rId54" Type="http://schemas.openxmlformats.org/officeDocument/2006/relationships/slide" Target="slides/slide51.xml"/><Relationship Id="rId53" Type="http://schemas.openxmlformats.org/officeDocument/2006/relationships/slide" Target="slides/slide50.xml"/><Relationship Id="rId52" Type="http://schemas.openxmlformats.org/officeDocument/2006/relationships/slide" Target="slides/slide49.xml"/><Relationship Id="rId51" Type="http://schemas.openxmlformats.org/officeDocument/2006/relationships/slide" Target="slides/slide48.xml"/><Relationship Id="rId50" Type="http://schemas.openxmlformats.org/officeDocument/2006/relationships/slide" Target="slides/slide47.xml"/><Relationship Id="rId5" Type="http://schemas.openxmlformats.org/officeDocument/2006/relationships/slide" Target="slides/slide2.xml"/><Relationship Id="rId49" Type="http://schemas.openxmlformats.org/officeDocument/2006/relationships/slide" Target="slides/slide46.xml"/><Relationship Id="rId48" Type="http://schemas.openxmlformats.org/officeDocument/2006/relationships/slide" Target="slides/slide45.xml"/><Relationship Id="rId47" Type="http://schemas.openxmlformats.org/officeDocument/2006/relationships/slide" Target="slides/slide44.xml"/><Relationship Id="rId46" Type="http://schemas.openxmlformats.org/officeDocument/2006/relationships/slide" Target="slides/slide43.xml"/><Relationship Id="rId45" Type="http://schemas.openxmlformats.org/officeDocument/2006/relationships/slide" Target="slides/slide42.xml"/><Relationship Id="rId44" Type="http://schemas.openxmlformats.org/officeDocument/2006/relationships/slide" Target="slides/slide41.xml"/><Relationship Id="rId43" Type="http://schemas.openxmlformats.org/officeDocument/2006/relationships/slide" Target="slides/slide40.xml"/><Relationship Id="rId42" Type="http://schemas.openxmlformats.org/officeDocument/2006/relationships/slide" Target="slides/slide39.xml"/><Relationship Id="rId41" Type="http://schemas.openxmlformats.org/officeDocument/2006/relationships/slide" Target="slides/slide38.xml"/><Relationship Id="rId40" Type="http://schemas.openxmlformats.org/officeDocument/2006/relationships/slide" Target="slides/slide37.xml"/><Relationship Id="rId4" Type="http://schemas.openxmlformats.org/officeDocument/2006/relationships/notesMaster" Target="notesMasters/notesMaster1.xml"/><Relationship Id="rId39" Type="http://schemas.openxmlformats.org/officeDocument/2006/relationships/slide" Target="slides/slide36.xml"/><Relationship Id="rId38" Type="http://schemas.openxmlformats.org/officeDocument/2006/relationships/slide" Target="slides/slide35.xml"/><Relationship Id="rId37" Type="http://schemas.openxmlformats.org/officeDocument/2006/relationships/slide" Target="slides/slide34.xml"/><Relationship Id="rId36" Type="http://schemas.openxmlformats.org/officeDocument/2006/relationships/slide" Target="slides/slide33.xml"/><Relationship Id="rId35" Type="http://schemas.openxmlformats.org/officeDocument/2006/relationships/slide" Target="slides/slide32.xml"/><Relationship Id="rId34" Type="http://schemas.openxmlformats.org/officeDocument/2006/relationships/slide" Target="slides/slide31.xml"/><Relationship Id="rId33" Type="http://schemas.openxmlformats.org/officeDocument/2006/relationships/slide" Target="slides/slide30.xml"/><Relationship Id="rId32" Type="http://schemas.openxmlformats.org/officeDocument/2006/relationships/slide" Target="slides/slide29.xml"/><Relationship Id="rId31" Type="http://schemas.openxmlformats.org/officeDocument/2006/relationships/slide" Target="slides/slide28.xml"/><Relationship Id="rId30" Type="http://schemas.openxmlformats.org/officeDocument/2006/relationships/slide" Target="slides/slide27.xml"/><Relationship Id="rId3" Type="http://schemas.openxmlformats.org/officeDocument/2006/relationships/slide" Target="slides/slide1.xml"/><Relationship Id="rId29" Type="http://schemas.openxmlformats.org/officeDocument/2006/relationships/slide" Target="slides/slide26.xml"/><Relationship Id="rId28" Type="http://schemas.openxmlformats.org/officeDocument/2006/relationships/slide" Target="slides/slide25.xml"/><Relationship Id="rId27" Type="http://schemas.openxmlformats.org/officeDocument/2006/relationships/slide" Target="slides/slide24.xml"/><Relationship Id="rId26" Type="http://schemas.openxmlformats.org/officeDocument/2006/relationships/slide" Target="slides/slide23.xml"/><Relationship Id="rId25" Type="http://schemas.openxmlformats.org/officeDocument/2006/relationships/slide" Target="slides/slide22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2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3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4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5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6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7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8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9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0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2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3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4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5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6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7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8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9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0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2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3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4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5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6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7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8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9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0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2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3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4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5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6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7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8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9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0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2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3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4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2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7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4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8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5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9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6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0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7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1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8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2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0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3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4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2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5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3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6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4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7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8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8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9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9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0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0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1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2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2.pn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4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3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5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4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6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5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7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6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8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7.png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0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8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9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2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0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3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1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4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2.png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8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3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9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4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0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5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6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2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7.png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4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8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5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9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6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40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7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41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8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42.png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0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43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44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2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45.pn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3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46.png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4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47.png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noFill/>
        </p:spPr>
        <p:txBody>
          <a:bodyPr/>
          <a:p>
            <a:endParaRPr lang="es-MX" altLang="en-US"/>
          </a:p>
        </p:txBody>
      </p:sp>
      <p:sp>
        <p:nvSpPr>
          <p:cNvPr id="3" name="Text 1"/>
          <p:cNvSpPr/>
          <p:nvPr/>
        </p:nvSpPr>
        <p:spPr>
          <a:xfrm>
            <a:off x="457200" y="97790"/>
            <a:ext cx="8229600" cy="386715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chemeClr val="tx1"/>
                </a:solidFill>
                <a:latin typeface="Arial" panose="020B0604020202020204" pitchFamily="34" charset="0"/>
                <a:ea typeface="Calibri" panose="020F0502020204030204" pitchFamily="34" charset="-122"/>
                <a:cs typeface="Arial" panose="020B0604020202020204" pitchFamily="34" charset="0"/>
              </a:rPr>
              <a:t>TECNOLÓGICO NACIONAL DE MÉXICO</a:t>
            </a:r>
            <a:endParaRPr lang="en-US" sz="2000" b="1" dirty="0">
              <a:solidFill>
                <a:schemeClr val="tx1"/>
              </a:solidFill>
              <a:latin typeface="Arial" panose="020B0604020202020204" pitchFamily="34" charset="0"/>
              <a:ea typeface="Calibri" panose="020F0502020204030204" pitchFamily="34" charset="-122"/>
              <a:cs typeface="Arial" panose="020B0604020202020204" pitchFamily="34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457200"/>
            <a:ext cx="8229600" cy="30099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UNIDAD ACADÉMICA VENUSTIANO CARRANZA</a:t>
            </a:r>
            <a:endParaRPr lang="en-US" sz="1400" b="1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826770"/>
            <a:ext cx="822960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INGENIERÍA EN SISTEMAS COMPUTACIONALES</a:t>
            </a:r>
            <a:endParaRPr lang="en-US" sz="1100" b="1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6" name="Text 4"/>
          <p:cNvSpPr/>
          <p:nvPr/>
        </p:nvSpPr>
        <p:spPr>
          <a:xfrm>
            <a:off x="457200" y="1097280"/>
            <a:ext cx="82296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BANCO DE EJERCICIOS DE SIMULACIÓN</a:t>
            </a:r>
            <a:endParaRPr lang="en-US" sz="2400" b="1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7" name="Text 5"/>
          <p:cNvSpPr/>
          <p:nvPr/>
        </p:nvSpPr>
        <p:spPr>
          <a:xfrm>
            <a:off x="457200" y="1508760"/>
            <a:ext cx="82296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Tema 4: Lenguajes de Simulación</a:t>
            </a:r>
            <a:endParaRPr lang="en-US" sz="1600" b="1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8" name="Text 6"/>
          <p:cNvSpPr/>
          <p:nvPr/>
        </p:nvSpPr>
        <p:spPr>
          <a:xfrm>
            <a:off x="457200" y="1874520"/>
            <a:ext cx="82296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Inventarios (Q,R)  ·  Línea de espera M/M/1  ·  Línea de espera M/M/c</a:t>
            </a:r>
            <a:endParaRPr lang="en-US" sz="1300" b="1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9" name="Shape 7"/>
          <p:cNvSpPr/>
          <p:nvPr/>
        </p:nvSpPr>
        <p:spPr>
          <a:xfrm>
            <a:off x="1371600" y="2331720"/>
            <a:ext cx="2011680" cy="457200"/>
          </a:xfrm>
          <a:prstGeom prst="roundRect">
            <a:avLst>
              <a:gd name="adj" fmla="val 12000"/>
            </a:avLst>
          </a:prstGeom>
          <a:solidFill>
            <a:srgbClr val="38A169"/>
          </a:solidFill>
        </p:spPr>
      </p:sp>
      <p:sp>
        <p:nvSpPr>
          <p:cNvPr id="10" name="Text 8"/>
          <p:cNvSpPr/>
          <p:nvPr/>
        </p:nvSpPr>
        <p:spPr>
          <a:xfrm>
            <a:off x="1371600" y="2423160"/>
            <a:ext cx="201168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 Inventario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0" y="2331720"/>
            <a:ext cx="2011680" cy="457200"/>
          </a:xfrm>
          <a:prstGeom prst="roundRect">
            <a:avLst>
              <a:gd name="adj" fmla="val 12000"/>
            </a:avLst>
          </a:prstGeom>
          <a:solidFill>
            <a:srgbClr val="805AD5"/>
          </a:solidFill>
        </p:spPr>
      </p:sp>
      <p:sp>
        <p:nvSpPr>
          <p:cNvPr id="12" name="Text 10"/>
          <p:cNvSpPr/>
          <p:nvPr/>
        </p:nvSpPr>
        <p:spPr>
          <a:xfrm>
            <a:off x="3657600" y="2423160"/>
            <a:ext cx="201168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2. Relojería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943600" y="2331720"/>
            <a:ext cx="2011680" cy="457200"/>
          </a:xfrm>
          <a:prstGeom prst="roundRect">
            <a:avLst>
              <a:gd name="adj" fmla="val 12000"/>
            </a:avLst>
          </a:prstGeom>
          <a:solidFill>
            <a:srgbClr val="DD6B20"/>
          </a:solidFill>
        </p:spPr>
      </p:sp>
      <p:sp>
        <p:nvSpPr>
          <p:cNvPr id="14" name="Text 12"/>
          <p:cNvSpPr/>
          <p:nvPr/>
        </p:nvSpPr>
        <p:spPr>
          <a:xfrm>
            <a:off x="5943600" y="2423160"/>
            <a:ext cx="201168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3. Puerto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57200" y="3017520"/>
            <a:ext cx="82296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Python  ·  Java  ·  R   |   5 ejecuciones por archivo</a:t>
            </a:r>
            <a:endParaRPr lang="en-US" sz="1300" b="1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82296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PRESENTA: José Ángel Gómez Rincón  |  Matrícula: 241260049  |  Semestre: Quinto</a:t>
            </a:r>
            <a:endParaRPr lang="en-US" sz="1300" b="1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457200" y="3840480"/>
            <a:ext cx="82296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DOCENTE: Ing. Francisco Javier Mingo Velázquez</a:t>
            </a:r>
            <a:endParaRPr lang="en-US" sz="1300" b="1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457200" y="4251960"/>
            <a:ext cx="82296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MX" altLang="en-US" sz="1200" b="1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02</a:t>
            </a:r>
            <a:r>
              <a:rPr lang="en-US" sz="1200" b="1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de </a:t>
            </a:r>
            <a:r>
              <a:rPr lang="es-MX" altLang="en-US" sz="1200" b="1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</a:t>
            </a:r>
            <a:r>
              <a:rPr lang="en-US" sz="1200" b="1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de 2026  ·  Venustiano Carranza, Chiapas</a:t>
            </a:r>
            <a:endParaRPr lang="en-US" sz="1200" b="1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457200" y="4572000"/>
            <a:ext cx="822960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Asignatura: Simulación  |  Clave: SCD-1022  |  Plan: ISIC 2010</a:t>
            </a:r>
            <a:endParaRPr lang="en-US" sz="1200" b="1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pic>
        <p:nvPicPr>
          <p:cNvPr id="22" name="Imagen 21" descr="Logotipo&#10;&#10;Descripción generada automáticamente"/>
          <p:cNvPicPr>
            <a:picLocks noChangeAspect="1"/>
          </p:cNvPicPr>
          <p:nvPr/>
        </p:nvPicPr>
        <p:blipFill>
          <a:blip r:embed="rId1" cstate="print"/>
          <a:srcRect/>
          <a:stretch>
            <a:fillRect/>
          </a:stretch>
        </p:blipFill>
        <p:spPr bwMode="auto">
          <a:xfrm>
            <a:off x="6942455" y="45720"/>
            <a:ext cx="2133600" cy="941705"/>
          </a:xfrm>
          <a:prstGeom prst="rect">
            <a:avLst/>
          </a:prstGeom>
          <a:noFill/>
          <a:ln>
            <a:noFill/>
          </a:ln>
        </p:spPr>
      </p:pic>
      <p:pic>
        <p:nvPicPr>
          <p:cNvPr id="20" name="Imagen 19"/>
          <p:cNvPicPr>
            <a:picLocks noChangeAspect="1"/>
          </p:cNvPicPr>
          <p:nvPr/>
        </p:nvPicPr>
        <p:blipFill rotWithShape="1">
          <a:blip r:embed="rId2" cstate="print"/>
          <a:srcRect/>
          <a:stretch>
            <a:fillRect/>
          </a:stretch>
        </p:blipFill>
        <p:spPr bwMode="auto">
          <a:xfrm>
            <a:off x="277495" y="160020"/>
            <a:ext cx="1516380" cy="10896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320040" y="91440"/>
            <a:ext cx="566928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Objetivo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365760" y="685800"/>
            <a:ext cx="8412480" cy="10058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Aplicar los conceptos del Tema 4 (lenguajes de simulación, casos prácticos de inventarios y líneas de espera, y validación) mediante la ejecución repetida de tres simuladores implementados en Python, Java y R, documentando los resultados de cinco corridas por cada archivo fuente.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365760" y="1874520"/>
            <a:ext cx="8412480" cy="914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Verificar el correcto funcionamiento de cada programa a través de ejecuciones distintas, observando la variabilidad de los resultados (costos, Wq, Lq, ρ, política óptima) y contrastándolos, cuando aplique, con las fórmulas teóricas M/M/1 y M/M/c.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274320" y="4754880"/>
            <a:ext cx="77724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Banco de ejercicios · Tema 4 · Lenguajes de simulación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321040" y="4754880"/>
            <a:ext cx="4572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320040" y="91440"/>
            <a:ext cx="566928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Introducción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365760" y="685800"/>
            <a:ext cx="8412480" cy="10972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Esta actividad documenta la ejecución de nueve programas de simulación correspondientes al Tema 4 de la asignatura Simulación (SCD-1022): un sistema de inventarios con política (Q, R) en una forrajería, una línea de espera M/M/1 en una relojería y una línea de espera M/M/c en los muelles de un puerto pesquero, cada uno implementado en Python, Java y R.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365760" y="1965960"/>
            <a:ext cx="8412480" cy="10058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Para cada archivo se solicitan cinco ejecuciones en diapositivas independientes, de modo que se observe el comportamiento del generador de números pseudoaleatorios y la estabilidad o variación de las medidas de desempeño (costo anual, tiempos de espera, utilización, política óptima).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274320" y="4754880"/>
            <a:ext cx="77724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Banco de ejercicios · Tema 4 · Lenguajes de simulación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321040" y="4754880"/>
            <a:ext cx="4572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320040" y="91440"/>
            <a:ext cx="566928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Justificación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365760" y="685800"/>
            <a:ext cx="8412480" cy="1645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Según la Instrumentación Didáctica, en el Tema 4 el estudiante debe manejar al menos un simulador de eventos discretos, aplicarlo a líneas de espera e inventarios y validar resultados. Ejecutar varias veces cada programa permite comprobar la reproducibilidad (con semilla fija) o la variabilidad (sin semilla), reforzar el uso del simulador y evidenciar la comparación con la teoría (M/M/1, M/M/c) y la búsqueda de la mejor política (Q, R).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74320" y="4754880"/>
            <a:ext cx="77724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Banco de ejercicios · Tema 4 · Lenguajes de simulación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8321040" y="4754880"/>
            <a:ext cx="4572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38A169"/>
          </a:solidFill>
        </p:spPr>
      </p:sp>
      <p:sp>
        <p:nvSpPr>
          <p:cNvPr id="3" name="Text 1"/>
          <p:cNvSpPr/>
          <p:nvPr/>
        </p:nvSpPr>
        <p:spPr>
          <a:xfrm>
            <a:off x="457200" y="1737360"/>
            <a:ext cx="82296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EJEMPLO 1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2194560"/>
            <a:ext cx="8229600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INVENTARIO (Q, R) — FORRAJERÍA</a:t>
            </a:r>
            <a:endParaRPr lang="en-US" sz="2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320040" y="91440"/>
            <a:ext cx="566928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  Inventario (Q, R) — Forrajería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365760" y="640080"/>
            <a:ext cx="2011680" cy="365760"/>
          </a:xfrm>
          <a:prstGeom prst="roundRect">
            <a:avLst>
              <a:gd name="adj" fmla="val 12500"/>
            </a:avLst>
          </a:prstGeom>
          <a:solidFill>
            <a:srgbClr val="38A169"/>
          </a:solidFill>
        </p:spPr>
      </p:sp>
      <p:sp>
        <p:nvSpPr>
          <p:cNvPr id="5" name="Text 3"/>
          <p:cNvSpPr/>
          <p:nvPr/>
        </p:nvSpPr>
        <p:spPr>
          <a:xfrm>
            <a:off x="365760" y="685800"/>
            <a:ext cx="201168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Tema 4 · Caso práctico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1188720"/>
            <a:ext cx="8412480" cy="1463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Simula el inventario de sacos de alimento para ganado con política (Q, R): demanda diaria discreta, tiempo de entrega del proveedor, costo de pedido, de mantener y de faltante. Se exploran varias combinaciones (Q, R) y se identifica la de menor costo anual promedio (30 réplicas de 365 días).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2834640"/>
            <a:ext cx="841248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B6CB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Archivos: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" y="3154680"/>
            <a:ext cx="841248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inventario_alimento_ganado_grafico.py  ·  InventarioAlimentoGanadoGrafico.java  ·  inventario_alimento_ganado.R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65760" y="3794760"/>
            <a:ext cx="841248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 continuación: Python, Java y R — cada uno con 5 ejecuciones (una diapositiva por ejecución).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74320" y="4754880"/>
            <a:ext cx="77724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Banco de ejercicios · Tema 4 · Lenguajes de simulación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8321040" y="4754880"/>
            <a:ext cx="4572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320040" y="91440"/>
            <a:ext cx="566928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  Inventario (Q, R) — Forrajería — PYTHON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452360" y="73152"/>
            <a:ext cx="1417320" cy="310896"/>
          </a:xfrm>
          <a:prstGeom prst="roundRect">
            <a:avLst>
              <a:gd name="adj" fmla="val 14706"/>
            </a:avLst>
          </a:prstGeom>
          <a:solidFill>
            <a:srgbClr val="3776AB"/>
          </a:solidFill>
        </p:spPr>
      </p:sp>
      <p:sp>
        <p:nvSpPr>
          <p:cNvPr id="5" name="Text 3"/>
          <p:cNvSpPr/>
          <p:nvPr/>
        </p:nvSpPr>
        <p:spPr>
          <a:xfrm>
            <a:off x="7452360" y="91440"/>
            <a:ext cx="141732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PYTHON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685800"/>
            <a:ext cx="841248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Archivo: inventario_alimento_ganado_grafico.py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65760" y="1097280"/>
            <a:ext cx="841248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Generador / entorno: módulo random + tkinter (animación y malla 3D)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" y="1554480"/>
            <a:ext cx="841248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Ejecutar: python inventario_alimento_ganado_grafico.py. Pestaña 1: animar un año. Pestaña 2: calcular malla y ver la política óptima.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65760" y="2377440"/>
            <a:ext cx="841248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Se documentan 5 ejecuciones. Cada una ocupa una diapositiva para insertar la captura de pantalla.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74320" y="4754880"/>
            <a:ext cx="77724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Banco de ejercicios · Tema 4 · Lenguajes de simulación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8321040" y="4754880"/>
            <a:ext cx="4572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320040" y="91440"/>
            <a:ext cx="566928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  Inventario (Q, R) — Forrajería — PYTHON — Ejecución 1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452360" y="73152"/>
            <a:ext cx="1417320" cy="310896"/>
          </a:xfrm>
          <a:prstGeom prst="roundRect">
            <a:avLst>
              <a:gd name="adj" fmla="val 14706"/>
            </a:avLst>
          </a:prstGeom>
          <a:solidFill>
            <a:srgbClr val="3776AB"/>
          </a:solidFill>
        </p:spPr>
      </p:sp>
      <p:sp>
        <p:nvSpPr>
          <p:cNvPr id="5" name="Text 3"/>
          <p:cNvSpPr/>
          <p:nvPr/>
        </p:nvSpPr>
        <p:spPr>
          <a:xfrm>
            <a:off x="7452360" y="91440"/>
            <a:ext cx="141732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PYTHON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640080"/>
            <a:ext cx="841248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B6CB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EJECUCIÓN 1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31520" y="1097280"/>
            <a:ext cx="7680960" cy="3200400"/>
          </a:xfrm>
          <a:prstGeom prst="roundRect">
            <a:avLst>
              <a:gd name="adj" fmla="val 2286"/>
            </a:avLst>
          </a:prstGeom>
          <a:solidFill>
            <a:srgbClr val="EDF2F7"/>
          </a:solidFill>
          <a:ln w="19050">
            <a:solidFill>
              <a:srgbClr val="A0AEC0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731520" y="2468880"/>
            <a:ext cx="768096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Inserta aquí la captura de pantalla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de la ejecución 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74320" y="4754880"/>
            <a:ext cx="77724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Banco de ejercicios · Tema 4 · Lenguajes de simulación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321040" y="4754880"/>
            <a:ext cx="4572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</a:t>
            </a:r>
            <a:endParaRPr lang="en-US" sz="1000" dirty="0"/>
          </a:p>
        </p:txBody>
      </p:sp>
      <p:pic>
        <p:nvPicPr>
          <p:cNvPr id="11" name="Imagen 1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1500" y="1041400"/>
            <a:ext cx="8197215" cy="362140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320040" y="91440"/>
            <a:ext cx="566928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  Inventario (Q, R) — Forrajería — PYTHON — Ejecución 2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452360" y="73152"/>
            <a:ext cx="1417320" cy="310896"/>
          </a:xfrm>
          <a:prstGeom prst="roundRect">
            <a:avLst>
              <a:gd name="adj" fmla="val 14706"/>
            </a:avLst>
          </a:prstGeom>
          <a:solidFill>
            <a:srgbClr val="3776AB"/>
          </a:solidFill>
        </p:spPr>
      </p:sp>
      <p:sp>
        <p:nvSpPr>
          <p:cNvPr id="5" name="Text 3"/>
          <p:cNvSpPr/>
          <p:nvPr/>
        </p:nvSpPr>
        <p:spPr>
          <a:xfrm>
            <a:off x="7452360" y="91440"/>
            <a:ext cx="141732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PYTHON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640080"/>
            <a:ext cx="841248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B6CB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EJECUCIÓN 2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31520" y="1097280"/>
            <a:ext cx="7680960" cy="3200400"/>
          </a:xfrm>
          <a:prstGeom prst="roundRect">
            <a:avLst>
              <a:gd name="adj" fmla="val 2286"/>
            </a:avLst>
          </a:prstGeom>
          <a:solidFill>
            <a:srgbClr val="EDF2F7"/>
          </a:solidFill>
          <a:ln w="19050">
            <a:solidFill>
              <a:srgbClr val="A0AEC0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731520" y="2468880"/>
            <a:ext cx="768096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Inserta aquí la captura de pantalla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de la ejecución 2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74320" y="4754880"/>
            <a:ext cx="77724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Banco de ejercicios · Tema 4 · Lenguajes de simulación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321040" y="4754880"/>
            <a:ext cx="4572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</a:t>
            </a:r>
            <a:endParaRPr lang="en-US" sz="1000" dirty="0"/>
          </a:p>
        </p:txBody>
      </p:sp>
      <p:pic>
        <p:nvPicPr>
          <p:cNvPr id="11" name="Imagen 1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9095" y="962025"/>
            <a:ext cx="8411845" cy="376745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320040" y="91440"/>
            <a:ext cx="566928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  Inventario (Q, R) — Forrajería — PYTHON — Ejecución 3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452360" y="73152"/>
            <a:ext cx="1417320" cy="310896"/>
          </a:xfrm>
          <a:prstGeom prst="roundRect">
            <a:avLst>
              <a:gd name="adj" fmla="val 14706"/>
            </a:avLst>
          </a:prstGeom>
          <a:solidFill>
            <a:srgbClr val="3776AB"/>
          </a:solidFill>
        </p:spPr>
      </p:sp>
      <p:sp>
        <p:nvSpPr>
          <p:cNvPr id="5" name="Text 3"/>
          <p:cNvSpPr/>
          <p:nvPr/>
        </p:nvSpPr>
        <p:spPr>
          <a:xfrm>
            <a:off x="7452360" y="91440"/>
            <a:ext cx="141732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PYTHON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640080"/>
            <a:ext cx="841248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B6CB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EJECUCIÓN 3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31520" y="1097280"/>
            <a:ext cx="7680960" cy="3200400"/>
          </a:xfrm>
          <a:prstGeom prst="roundRect">
            <a:avLst>
              <a:gd name="adj" fmla="val 2286"/>
            </a:avLst>
          </a:prstGeom>
          <a:solidFill>
            <a:srgbClr val="EDF2F7"/>
          </a:solidFill>
          <a:ln w="19050">
            <a:solidFill>
              <a:srgbClr val="A0AEC0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731520" y="2468880"/>
            <a:ext cx="768096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Inserta aquí la captura de pantalla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de la ejecución 3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74320" y="4754880"/>
            <a:ext cx="77724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Banco de ejercicios · Tema 4 · Lenguajes de simulación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321040" y="4754880"/>
            <a:ext cx="4572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</a:t>
            </a:r>
            <a:endParaRPr lang="en-US" sz="1000" dirty="0"/>
          </a:p>
        </p:txBody>
      </p:sp>
      <p:pic>
        <p:nvPicPr>
          <p:cNvPr id="11" name="Imagen 1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2115" y="960120"/>
            <a:ext cx="8372475" cy="381063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320040" y="91440"/>
            <a:ext cx="566928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  Inventario (Q, R) — Forrajería — PYTHON — Ejecución 4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452360" y="73152"/>
            <a:ext cx="1417320" cy="310896"/>
          </a:xfrm>
          <a:prstGeom prst="roundRect">
            <a:avLst>
              <a:gd name="adj" fmla="val 14706"/>
            </a:avLst>
          </a:prstGeom>
          <a:solidFill>
            <a:srgbClr val="3776AB"/>
          </a:solidFill>
        </p:spPr>
      </p:sp>
      <p:sp>
        <p:nvSpPr>
          <p:cNvPr id="5" name="Text 3"/>
          <p:cNvSpPr/>
          <p:nvPr/>
        </p:nvSpPr>
        <p:spPr>
          <a:xfrm>
            <a:off x="7452360" y="91440"/>
            <a:ext cx="141732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PYTHON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640080"/>
            <a:ext cx="841248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B6CB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EJECUCIÓN 4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31520" y="1097280"/>
            <a:ext cx="7680960" cy="3200400"/>
          </a:xfrm>
          <a:prstGeom prst="roundRect">
            <a:avLst>
              <a:gd name="adj" fmla="val 2286"/>
            </a:avLst>
          </a:prstGeom>
          <a:solidFill>
            <a:srgbClr val="EDF2F7"/>
          </a:solidFill>
          <a:ln w="19050">
            <a:solidFill>
              <a:srgbClr val="A0AEC0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731520" y="2468880"/>
            <a:ext cx="768096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Inserta aquí la captura de pantalla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de la ejecución 4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74320" y="4754880"/>
            <a:ext cx="77724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Banco de ejercicios · Tema 4 · Lenguajes de simulación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321040" y="4754880"/>
            <a:ext cx="4572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</a:t>
            </a:r>
            <a:endParaRPr lang="en-US" sz="1000" dirty="0"/>
          </a:p>
        </p:txBody>
      </p:sp>
      <p:pic>
        <p:nvPicPr>
          <p:cNvPr id="11" name="Imagen 1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960120"/>
            <a:ext cx="8428990" cy="379349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320040" y="91440"/>
            <a:ext cx="566928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  Inventario (Q, R) — Forrajería — PYTHON — Ejecución 5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452360" y="73152"/>
            <a:ext cx="1417320" cy="310896"/>
          </a:xfrm>
          <a:prstGeom prst="roundRect">
            <a:avLst>
              <a:gd name="adj" fmla="val 14706"/>
            </a:avLst>
          </a:prstGeom>
          <a:solidFill>
            <a:srgbClr val="3776AB"/>
          </a:solidFill>
        </p:spPr>
      </p:sp>
      <p:sp>
        <p:nvSpPr>
          <p:cNvPr id="5" name="Text 3"/>
          <p:cNvSpPr/>
          <p:nvPr/>
        </p:nvSpPr>
        <p:spPr>
          <a:xfrm>
            <a:off x="7452360" y="91440"/>
            <a:ext cx="141732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PYTHON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640080"/>
            <a:ext cx="841248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B6CB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EJECUCIÓN 5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31520" y="1097280"/>
            <a:ext cx="7680960" cy="3200400"/>
          </a:xfrm>
          <a:prstGeom prst="roundRect">
            <a:avLst>
              <a:gd name="adj" fmla="val 2286"/>
            </a:avLst>
          </a:prstGeom>
          <a:solidFill>
            <a:srgbClr val="EDF2F7"/>
          </a:solidFill>
          <a:ln w="19050">
            <a:solidFill>
              <a:srgbClr val="A0AEC0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731520" y="2468880"/>
            <a:ext cx="768096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Inserta aquí la captura de pantalla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de la ejecución 5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74320" y="4754880"/>
            <a:ext cx="77724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Banco de ejercicios · Tema 4 · Lenguajes de simulación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321040" y="4754880"/>
            <a:ext cx="4572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12</a:t>
            </a:r>
            <a:endParaRPr lang="en-US" sz="1000" dirty="0"/>
          </a:p>
        </p:txBody>
      </p:sp>
      <p:pic>
        <p:nvPicPr>
          <p:cNvPr id="11" name="Imagen 1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960120"/>
            <a:ext cx="8412480" cy="380111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320040" y="91440"/>
            <a:ext cx="566928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  Inventario (Q, R) — Forrajería — JAVA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452360" y="73152"/>
            <a:ext cx="1417320" cy="310896"/>
          </a:xfrm>
          <a:prstGeom prst="roundRect">
            <a:avLst>
              <a:gd name="adj" fmla="val 14706"/>
            </a:avLst>
          </a:prstGeom>
          <a:solidFill>
            <a:srgbClr val="B07219"/>
          </a:solidFill>
        </p:spPr>
      </p:sp>
      <p:sp>
        <p:nvSpPr>
          <p:cNvPr id="5" name="Text 3"/>
          <p:cNvSpPr/>
          <p:nvPr/>
        </p:nvSpPr>
        <p:spPr>
          <a:xfrm>
            <a:off x="7452360" y="91440"/>
            <a:ext cx="141732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JAVA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685800"/>
            <a:ext cx="841248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Archivo: InventarioAlimentoGanadoGrafico.java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65760" y="1097280"/>
            <a:ext cx="841248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Generador / entorno: clase Random + Swing (animación y malla 3D)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" y="1554480"/>
            <a:ext cx="841248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javac InventarioAlimentoGanadoGrafico.java &amp;&amp; java InventarioAlimentoGanadoGrafico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65760" y="2377440"/>
            <a:ext cx="841248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Se documentan 5 ejecuciones. Cada una ocupa una diapositiva para insertar la captura de pantalla.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74320" y="4754880"/>
            <a:ext cx="77724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Banco de ejercicios · Tema 4 · Lenguajes de simulación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8321040" y="4754880"/>
            <a:ext cx="4572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320040" y="91440"/>
            <a:ext cx="566928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  Inventario (Q, R) — Forrajería — JAVA — Ejecución 1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452360" y="73152"/>
            <a:ext cx="1417320" cy="310896"/>
          </a:xfrm>
          <a:prstGeom prst="roundRect">
            <a:avLst>
              <a:gd name="adj" fmla="val 14706"/>
            </a:avLst>
          </a:prstGeom>
          <a:solidFill>
            <a:srgbClr val="B07219"/>
          </a:solidFill>
        </p:spPr>
      </p:sp>
      <p:sp>
        <p:nvSpPr>
          <p:cNvPr id="5" name="Text 3"/>
          <p:cNvSpPr/>
          <p:nvPr/>
        </p:nvSpPr>
        <p:spPr>
          <a:xfrm>
            <a:off x="7452360" y="91440"/>
            <a:ext cx="141732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JAVA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640080"/>
            <a:ext cx="841248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B6CB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EJECUCIÓN 1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31520" y="1097280"/>
            <a:ext cx="7680960" cy="3200400"/>
          </a:xfrm>
          <a:prstGeom prst="roundRect">
            <a:avLst>
              <a:gd name="adj" fmla="val 2286"/>
            </a:avLst>
          </a:prstGeom>
          <a:solidFill>
            <a:srgbClr val="EDF2F7"/>
          </a:solidFill>
          <a:ln w="19050">
            <a:solidFill>
              <a:srgbClr val="A0AEC0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731520" y="2468880"/>
            <a:ext cx="768096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Inserta aquí la captura de pantalla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de la ejecución 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74320" y="4754880"/>
            <a:ext cx="77724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Banco de ejercicios · Tema 4 · Lenguajes de simulación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321040" y="4754880"/>
            <a:ext cx="4572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</a:t>
            </a:r>
            <a:endParaRPr lang="en-US" sz="1000" dirty="0"/>
          </a:p>
        </p:txBody>
      </p:sp>
      <p:pic>
        <p:nvPicPr>
          <p:cNvPr id="11" name="Imagen 1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2110" y="960120"/>
            <a:ext cx="8406130" cy="378714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320040" y="91440"/>
            <a:ext cx="566928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  Inventario (Q, R) — Forrajería — JAVA — Ejecución 2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452360" y="73152"/>
            <a:ext cx="1417320" cy="310896"/>
          </a:xfrm>
          <a:prstGeom prst="roundRect">
            <a:avLst>
              <a:gd name="adj" fmla="val 14706"/>
            </a:avLst>
          </a:prstGeom>
          <a:solidFill>
            <a:srgbClr val="B07219"/>
          </a:solidFill>
        </p:spPr>
      </p:sp>
      <p:sp>
        <p:nvSpPr>
          <p:cNvPr id="5" name="Text 3"/>
          <p:cNvSpPr/>
          <p:nvPr/>
        </p:nvSpPr>
        <p:spPr>
          <a:xfrm>
            <a:off x="7452360" y="91440"/>
            <a:ext cx="141732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JAVA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640080"/>
            <a:ext cx="841248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B6CB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EJECUCIÓN 2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31520" y="1097280"/>
            <a:ext cx="7680960" cy="3200400"/>
          </a:xfrm>
          <a:prstGeom prst="roundRect">
            <a:avLst>
              <a:gd name="adj" fmla="val 2286"/>
            </a:avLst>
          </a:prstGeom>
          <a:solidFill>
            <a:srgbClr val="EDF2F7"/>
          </a:solidFill>
          <a:ln w="19050">
            <a:solidFill>
              <a:srgbClr val="A0AEC0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731520" y="2468880"/>
            <a:ext cx="768096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Inserta aquí la captura de pantalla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de la ejecución 2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74320" y="4754880"/>
            <a:ext cx="77724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Banco de ejercicios · Tema 4 · Lenguajes de simulación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321040" y="4754880"/>
            <a:ext cx="4572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15</a:t>
            </a:r>
            <a:endParaRPr lang="en-US" sz="1000" dirty="0"/>
          </a:p>
        </p:txBody>
      </p:sp>
      <p:pic>
        <p:nvPicPr>
          <p:cNvPr id="11" name="Imagen 1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0205" y="972820"/>
            <a:ext cx="8416925" cy="376301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320040" y="91440"/>
            <a:ext cx="566928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  Inventario (Q, R) — Forrajería — JAVA — Ejecución 3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452360" y="73152"/>
            <a:ext cx="1417320" cy="310896"/>
          </a:xfrm>
          <a:prstGeom prst="roundRect">
            <a:avLst>
              <a:gd name="adj" fmla="val 14706"/>
            </a:avLst>
          </a:prstGeom>
          <a:solidFill>
            <a:srgbClr val="B07219"/>
          </a:solidFill>
        </p:spPr>
      </p:sp>
      <p:sp>
        <p:nvSpPr>
          <p:cNvPr id="5" name="Text 3"/>
          <p:cNvSpPr/>
          <p:nvPr/>
        </p:nvSpPr>
        <p:spPr>
          <a:xfrm>
            <a:off x="7452360" y="91440"/>
            <a:ext cx="141732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JAVA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640080"/>
            <a:ext cx="841248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B6CB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EJECUCIÓN 3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31520" y="1097280"/>
            <a:ext cx="7680960" cy="3200400"/>
          </a:xfrm>
          <a:prstGeom prst="roundRect">
            <a:avLst>
              <a:gd name="adj" fmla="val 2286"/>
            </a:avLst>
          </a:prstGeom>
          <a:solidFill>
            <a:srgbClr val="EDF2F7"/>
          </a:solidFill>
          <a:ln w="19050">
            <a:solidFill>
              <a:srgbClr val="A0AEC0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731520" y="2468880"/>
            <a:ext cx="768096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Inserta aquí la captura de pantalla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de la ejecución 3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74320" y="4754880"/>
            <a:ext cx="77724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Banco de ejercicios · Tema 4 · Lenguajes de simulación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321040" y="4754880"/>
            <a:ext cx="4572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</a:t>
            </a:r>
            <a:endParaRPr lang="en-US" sz="1000" dirty="0"/>
          </a:p>
        </p:txBody>
      </p:sp>
      <p:pic>
        <p:nvPicPr>
          <p:cNvPr id="11" name="Imagen 1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40" y="960120"/>
            <a:ext cx="8457565" cy="378587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320040" y="91440"/>
            <a:ext cx="566928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  Inventario (Q, R) — Forrajería — JAVA — Ejecución 4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452360" y="73152"/>
            <a:ext cx="1417320" cy="310896"/>
          </a:xfrm>
          <a:prstGeom prst="roundRect">
            <a:avLst>
              <a:gd name="adj" fmla="val 14706"/>
            </a:avLst>
          </a:prstGeom>
          <a:solidFill>
            <a:srgbClr val="B07219"/>
          </a:solidFill>
        </p:spPr>
      </p:sp>
      <p:sp>
        <p:nvSpPr>
          <p:cNvPr id="5" name="Text 3"/>
          <p:cNvSpPr/>
          <p:nvPr/>
        </p:nvSpPr>
        <p:spPr>
          <a:xfrm>
            <a:off x="7452360" y="91440"/>
            <a:ext cx="141732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JAVA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640080"/>
            <a:ext cx="841248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B6CB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EJECUCIÓN 4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31520" y="1097280"/>
            <a:ext cx="7680960" cy="3200400"/>
          </a:xfrm>
          <a:prstGeom prst="roundRect">
            <a:avLst>
              <a:gd name="adj" fmla="val 2286"/>
            </a:avLst>
          </a:prstGeom>
          <a:solidFill>
            <a:srgbClr val="EDF2F7"/>
          </a:solidFill>
          <a:ln w="19050">
            <a:solidFill>
              <a:srgbClr val="A0AEC0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731520" y="2468880"/>
            <a:ext cx="768096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Inserta aquí la captura de pantalla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de la ejecución 4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74320" y="4754880"/>
            <a:ext cx="77724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Banco de ejercicios · Tema 4 · Lenguajes de simulación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321040" y="4754880"/>
            <a:ext cx="4572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17</a:t>
            </a:r>
            <a:endParaRPr lang="en-US" sz="1000" dirty="0"/>
          </a:p>
        </p:txBody>
      </p:sp>
      <p:pic>
        <p:nvPicPr>
          <p:cNvPr id="11" name="Imagen 1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7345" y="960120"/>
            <a:ext cx="8428990" cy="378968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320040" y="91440"/>
            <a:ext cx="566928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  Inventario (Q, R) — Forrajería — JAVA — Ejecución 5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452360" y="73152"/>
            <a:ext cx="1417320" cy="310896"/>
          </a:xfrm>
          <a:prstGeom prst="roundRect">
            <a:avLst>
              <a:gd name="adj" fmla="val 14706"/>
            </a:avLst>
          </a:prstGeom>
          <a:solidFill>
            <a:srgbClr val="B07219"/>
          </a:solidFill>
        </p:spPr>
      </p:sp>
      <p:sp>
        <p:nvSpPr>
          <p:cNvPr id="5" name="Text 3"/>
          <p:cNvSpPr/>
          <p:nvPr/>
        </p:nvSpPr>
        <p:spPr>
          <a:xfrm>
            <a:off x="7452360" y="91440"/>
            <a:ext cx="141732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JAVA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640080"/>
            <a:ext cx="841248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B6CB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EJECUCIÓN 5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31520" y="1097280"/>
            <a:ext cx="7680960" cy="3200400"/>
          </a:xfrm>
          <a:prstGeom prst="roundRect">
            <a:avLst>
              <a:gd name="adj" fmla="val 2286"/>
            </a:avLst>
          </a:prstGeom>
          <a:solidFill>
            <a:srgbClr val="EDF2F7"/>
          </a:solidFill>
          <a:ln w="19050">
            <a:solidFill>
              <a:srgbClr val="A0AEC0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731520" y="2468880"/>
            <a:ext cx="768096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Inserta aquí la captura de pantalla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de la ejecución 5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74320" y="4754880"/>
            <a:ext cx="77724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Banco de ejercicios · Tema 4 · Lenguajes de simulación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321040" y="4754880"/>
            <a:ext cx="4572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18</a:t>
            </a:r>
            <a:endParaRPr lang="en-US" sz="1000" dirty="0"/>
          </a:p>
        </p:txBody>
      </p:sp>
      <p:pic>
        <p:nvPicPr>
          <p:cNvPr id="11" name="Imagen 1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40" y="960755"/>
            <a:ext cx="8543290" cy="379857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320040" y="91440"/>
            <a:ext cx="566928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  Inventario (Q, R) — Forrajería — R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452360" y="73152"/>
            <a:ext cx="1417320" cy="310896"/>
          </a:xfrm>
          <a:prstGeom prst="roundRect">
            <a:avLst>
              <a:gd name="adj" fmla="val 14706"/>
            </a:avLst>
          </a:prstGeom>
          <a:solidFill>
            <a:srgbClr val="276DC3"/>
          </a:solidFill>
        </p:spPr>
      </p:sp>
      <p:sp>
        <p:nvSpPr>
          <p:cNvPr id="5" name="Text 3"/>
          <p:cNvSpPr/>
          <p:nvPr/>
        </p:nvSpPr>
        <p:spPr>
          <a:xfrm>
            <a:off x="7452360" y="91440"/>
            <a:ext cx="141732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685800"/>
            <a:ext cx="841248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Archivo: inventario_alimento_ganado.R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65760" y="1097280"/>
            <a:ext cx="841248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Generador / entorno: runif() + plot()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" y="1554480"/>
            <a:ext cx="841248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Rscript inventario_alimento_ganado.R  (o source() en RStudio). Tabla de costos, mejor (Q,R) y gráfica.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65760" y="2377440"/>
            <a:ext cx="841248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Se documentan 5 ejecuciones. Cada una ocupa una diapositiva para insertar la captura de pantalla.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74320" y="4754880"/>
            <a:ext cx="77724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Banco de ejercicios · Tema 4 · Lenguajes de simulación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8321040" y="4754880"/>
            <a:ext cx="4572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19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320040" y="91440"/>
            <a:ext cx="566928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  Inventario (Q, R) — Forrajería — R — Ejecución 1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452360" y="73152"/>
            <a:ext cx="1417320" cy="310896"/>
          </a:xfrm>
          <a:prstGeom prst="roundRect">
            <a:avLst>
              <a:gd name="adj" fmla="val 14706"/>
            </a:avLst>
          </a:prstGeom>
          <a:solidFill>
            <a:srgbClr val="276DC3"/>
          </a:solidFill>
        </p:spPr>
      </p:sp>
      <p:sp>
        <p:nvSpPr>
          <p:cNvPr id="5" name="Text 3"/>
          <p:cNvSpPr/>
          <p:nvPr/>
        </p:nvSpPr>
        <p:spPr>
          <a:xfrm>
            <a:off x="7452360" y="91440"/>
            <a:ext cx="141732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640080"/>
            <a:ext cx="841248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B6CB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EJECUCIÓN 1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31520" y="1097280"/>
            <a:ext cx="7680960" cy="3200400"/>
          </a:xfrm>
          <a:prstGeom prst="roundRect">
            <a:avLst>
              <a:gd name="adj" fmla="val 2286"/>
            </a:avLst>
          </a:prstGeom>
          <a:solidFill>
            <a:srgbClr val="EDF2F7"/>
          </a:solidFill>
          <a:ln w="19050">
            <a:solidFill>
              <a:srgbClr val="A0AEC0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731520" y="2468880"/>
            <a:ext cx="768096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Inserta aquí la captura de pantalla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de la ejecución 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74320" y="4754880"/>
            <a:ext cx="77724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Banco de ejercicios · Tema 4 · Lenguajes de simulación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321040" y="4754880"/>
            <a:ext cx="4572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</a:t>
            </a:r>
            <a:endParaRPr lang="en-US" sz="1000" dirty="0"/>
          </a:p>
        </p:txBody>
      </p:sp>
      <p:pic>
        <p:nvPicPr>
          <p:cNvPr id="11" name="Imagen 1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6250" y="972820"/>
            <a:ext cx="8191500" cy="358394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320040" y="91440"/>
            <a:ext cx="566928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  Inventario (Q, R) — Forrajería — R — Ejecución 2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452360" y="73152"/>
            <a:ext cx="1417320" cy="310896"/>
          </a:xfrm>
          <a:prstGeom prst="roundRect">
            <a:avLst>
              <a:gd name="adj" fmla="val 14706"/>
            </a:avLst>
          </a:prstGeom>
          <a:solidFill>
            <a:srgbClr val="276DC3"/>
          </a:solidFill>
        </p:spPr>
      </p:sp>
      <p:sp>
        <p:nvSpPr>
          <p:cNvPr id="5" name="Text 3"/>
          <p:cNvSpPr/>
          <p:nvPr/>
        </p:nvSpPr>
        <p:spPr>
          <a:xfrm>
            <a:off x="7452360" y="91440"/>
            <a:ext cx="141732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640080"/>
            <a:ext cx="841248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B6CB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EJECUCIÓN 2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31520" y="1097280"/>
            <a:ext cx="7680960" cy="3200400"/>
          </a:xfrm>
          <a:prstGeom prst="roundRect">
            <a:avLst>
              <a:gd name="adj" fmla="val 2286"/>
            </a:avLst>
          </a:prstGeom>
          <a:solidFill>
            <a:srgbClr val="EDF2F7"/>
          </a:solidFill>
          <a:ln w="19050">
            <a:solidFill>
              <a:srgbClr val="A0AEC0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731520" y="2468880"/>
            <a:ext cx="768096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Inserta aquí la captura de pantalla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de la ejecución 2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74320" y="4754880"/>
            <a:ext cx="77724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Banco de ejercicios · Tema 4 · Lenguajes de simulación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321040" y="4754880"/>
            <a:ext cx="4572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21</a:t>
            </a:r>
            <a:endParaRPr lang="en-US" sz="1000" dirty="0"/>
          </a:p>
        </p:txBody>
      </p:sp>
      <p:pic>
        <p:nvPicPr>
          <p:cNvPr id="11" name="Imagen 1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7680" y="960120"/>
            <a:ext cx="8168640" cy="380111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320040" y="91440"/>
            <a:ext cx="566928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  Inventario (Q, R) — Forrajería — R — Ejecución 3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452360" y="73152"/>
            <a:ext cx="1417320" cy="310896"/>
          </a:xfrm>
          <a:prstGeom prst="roundRect">
            <a:avLst>
              <a:gd name="adj" fmla="val 14706"/>
            </a:avLst>
          </a:prstGeom>
          <a:solidFill>
            <a:srgbClr val="276DC3"/>
          </a:solidFill>
        </p:spPr>
      </p:sp>
      <p:sp>
        <p:nvSpPr>
          <p:cNvPr id="5" name="Text 3"/>
          <p:cNvSpPr/>
          <p:nvPr/>
        </p:nvSpPr>
        <p:spPr>
          <a:xfrm>
            <a:off x="7452360" y="91440"/>
            <a:ext cx="141732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640080"/>
            <a:ext cx="841248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B6CB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EJECUCIÓN 3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31520" y="1097280"/>
            <a:ext cx="7680960" cy="3200400"/>
          </a:xfrm>
          <a:prstGeom prst="roundRect">
            <a:avLst>
              <a:gd name="adj" fmla="val 2286"/>
            </a:avLst>
          </a:prstGeom>
          <a:solidFill>
            <a:srgbClr val="EDF2F7"/>
          </a:solidFill>
          <a:ln w="19050">
            <a:solidFill>
              <a:srgbClr val="A0AEC0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731520" y="2468880"/>
            <a:ext cx="768096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Inserta aquí la captura de pantalla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de la ejecución 3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74320" y="4754880"/>
            <a:ext cx="77724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Banco de ejercicios · Tema 4 · Lenguajes de simulación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321040" y="4754880"/>
            <a:ext cx="4572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22</a:t>
            </a:r>
            <a:endParaRPr lang="en-US" sz="1000" dirty="0"/>
          </a:p>
        </p:txBody>
      </p:sp>
      <p:pic>
        <p:nvPicPr>
          <p:cNvPr id="11" name="Imagen 1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4820" y="960120"/>
            <a:ext cx="8214360" cy="3782695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320040" y="91440"/>
            <a:ext cx="566928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  Inventario (Q, R) — Forrajería — R — Ejecución 4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452360" y="73152"/>
            <a:ext cx="1417320" cy="310896"/>
          </a:xfrm>
          <a:prstGeom prst="roundRect">
            <a:avLst>
              <a:gd name="adj" fmla="val 14706"/>
            </a:avLst>
          </a:prstGeom>
          <a:solidFill>
            <a:srgbClr val="276DC3"/>
          </a:solidFill>
        </p:spPr>
      </p:sp>
      <p:sp>
        <p:nvSpPr>
          <p:cNvPr id="5" name="Text 3"/>
          <p:cNvSpPr/>
          <p:nvPr/>
        </p:nvSpPr>
        <p:spPr>
          <a:xfrm>
            <a:off x="7452360" y="91440"/>
            <a:ext cx="141732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640080"/>
            <a:ext cx="841248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B6CB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EJECUCIÓN 4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31520" y="1097280"/>
            <a:ext cx="7680960" cy="3200400"/>
          </a:xfrm>
          <a:prstGeom prst="roundRect">
            <a:avLst>
              <a:gd name="adj" fmla="val 2286"/>
            </a:avLst>
          </a:prstGeom>
          <a:solidFill>
            <a:srgbClr val="EDF2F7"/>
          </a:solidFill>
          <a:ln w="19050">
            <a:solidFill>
              <a:srgbClr val="A0AEC0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731520" y="2468880"/>
            <a:ext cx="768096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Inserta aquí la captura de pantalla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de la ejecución 4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74320" y="4754880"/>
            <a:ext cx="77724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Banco de ejercicios · Tema 4 · Lenguajes de simulación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321040" y="4754880"/>
            <a:ext cx="4572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23</a:t>
            </a:r>
            <a:endParaRPr lang="en-US" sz="1000" dirty="0"/>
          </a:p>
        </p:txBody>
      </p:sp>
      <p:pic>
        <p:nvPicPr>
          <p:cNvPr id="11" name="Imagen 1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3870" y="960755"/>
            <a:ext cx="8176260" cy="378079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320040" y="91440"/>
            <a:ext cx="566928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  Inventario (Q, R) — Forrajería — R — Ejecución 5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452360" y="73152"/>
            <a:ext cx="1417320" cy="310896"/>
          </a:xfrm>
          <a:prstGeom prst="roundRect">
            <a:avLst>
              <a:gd name="adj" fmla="val 14706"/>
            </a:avLst>
          </a:prstGeom>
          <a:solidFill>
            <a:srgbClr val="276DC3"/>
          </a:solidFill>
        </p:spPr>
      </p:sp>
      <p:sp>
        <p:nvSpPr>
          <p:cNvPr id="5" name="Text 3"/>
          <p:cNvSpPr/>
          <p:nvPr/>
        </p:nvSpPr>
        <p:spPr>
          <a:xfrm>
            <a:off x="7452360" y="91440"/>
            <a:ext cx="141732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640080"/>
            <a:ext cx="841248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B6CB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EJECUCIÓN 5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31520" y="1097280"/>
            <a:ext cx="7680960" cy="3200400"/>
          </a:xfrm>
          <a:prstGeom prst="roundRect">
            <a:avLst>
              <a:gd name="adj" fmla="val 2286"/>
            </a:avLst>
          </a:prstGeom>
          <a:solidFill>
            <a:srgbClr val="EDF2F7"/>
          </a:solidFill>
          <a:ln w="19050">
            <a:solidFill>
              <a:srgbClr val="A0AEC0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731520" y="2468880"/>
            <a:ext cx="768096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Inserta aquí la captura de pantalla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de la ejecución 5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74320" y="4754880"/>
            <a:ext cx="77724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Banco de ejercicios · Tema 4 · Lenguajes de simulación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321040" y="4754880"/>
            <a:ext cx="4572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24</a:t>
            </a:r>
            <a:endParaRPr lang="en-US" sz="1000" dirty="0"/>
          </a:p>
        </p:txBody>
      </p:sp>
      <p:pic>
        <p:nvPicPr>
          <p:cNvPr id="11" name="Imagen 1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6250" y="960120"/>
            <a:ext cx="8191500" cy="3639185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805AD5"/>
          </a:solidFill>
        </p:spPr>
      </p:sp>
      <p:sp>
        <p:nvSpPr>
          <p:cNvPr id="3" name="Text 1"/>
          <p:cNvSpPr/>
          <p:nvPr/>
        </p:nvSpPr>
        <p:spPr>
          <a:xfrm>
            <a:off x="457200" y="1737360"/>
            <a:ext cx="82296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EJEMPLO 2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2194560"/>
            <a:ext cx="8229600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LÍNEA DE ESPERA 1 — RELOJERÍA (M/M/1)</a:t>
            </a:r>
            <a:endParaRPr lang="en-US" sz="26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320040" y="91440"/>
            <a:ext cx="566928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2.  Línea de espera 1 — Relojería (M/M/1)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365760" y="640080"/>
            <a:ext cx="2011680" cy="365760"/>
          </a:xfrm>
          <a:prstGeom prst="roundRect">
            <a:avLst>
              <a:gd name="adj" fmla="val 12500"/>
            </a:avLst>
          </a:prstGeom>
          <a:solidFill>
            <a:srgbClr val="805AD5"/>
          </a:solidFill>
        </p:spPr>
      </p:sp>
      <p:sp>
        <p:nvSpPr>
          <p:cNvPr id="5" name="Text 3"/>
          <p:cNvSpPr/>
          <p:nvPr/>
        </p:nvSpPr>
        <p:spPr>
          <a:xfrm>
            <a:off x="365760" y="685800"/>
            <a:ext cx="201168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Tema 4 · Caso práctico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1188720"/>
            <a:ext cx="8412480" cy="1463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Simula una relojería con un solo relojero (M/M/1): llegadas exponenciales λ = 2 clientes/hora, servicio exponencial μ = 2.5 clientes/hora. La simulación termina al atender al menos 800 clientes con el sistema vacío. Se contrastan Wq, W, Lq y ρ con las fórmulas teóricas.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2834640"/>
            <a:ext cx="841248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B6CB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Archivos: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" y="3154680"/>
            <a:ext cx="841248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linea_espera_1_relojeria_grafico.py  ·  LineaEspera1RelojeriaGrafico.java  ·  linea_espera_1_relojeria.R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65760" y="3794760"/>
            <a:ext cx="841248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 continuación: Python, Java y R — cada uno con 5 ejecuciones (una diapositiva por ejecución).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74320" y="4754880"/>
            <a:ext cx="77724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Banco de ejercicios · Tema 4 · Lenguajes de simulación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8321040" y="4754880"/>
            <a:ext cx="4572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26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320040" y="91440"/>
            <a:ext cx="566928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2.  Línea de espera 1 — Relojería (M/M/1) — PYTHON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452360" y="73152"/>
            <a:ext cx="1417320" cy="310896"/>
          </a:xfrm>
          <a:prstGeom prst="roundRect">
            <a:avLst>
              <a:gd name="adj" fmla="val 14706"/>
            </a:avLst>
          </a:prstGeom>
          <a:solidFill>
            <a:srgbClr val="3776AB"/>
          </a:solidFill>
        </p:spPr>
      </p:sp>
      <p:sp>
        <p:nvSpPr>
          <p:cNvPr id="5" name="Text 3"/>
          <p:cNvSpPr/>
          <p:nvPr/>
        </p:nvSpPr>
        <p:spPr>
          <a:xfrm>
            <a:off x="7452360" y="91440"/>
            <a:ext cx="141732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PYTHON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685800"/>
            <a:ext cx="841248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Archivo: linea_espera_1_relojeria_grafico.py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65760" y="1097280"/>
            <a:ext cx="841248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Generador / entorno: random + tkinter (animación + stats vs teoría)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" y="1554480"/>
            <a:ext cx="841248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python linea_espera_1_relojeria_grafico.py — animar hasta terminación; observar Wq vs teoría.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65760" y="2377440"/>
            <a:ext cx="841248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Se documentan 5 ejecuciones. Cada una ocupa una diapositiva para insertar la captura de pantalla.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74320" y="4754880"/>
            <a:ext cx="77724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Banco de ejercicios · Tema 4 · Lenguajes de simulación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8321040" y="4754880"/>
            <a:ext cx="4572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27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320040" y="91440"/>
            <a:ext cx="566928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2.  Línea de espera 1 — Relojería (M/M/1) — PYTHON — Ejecución 1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452360" y="73152"/>
            <a:ext cx="1417320" cy="310896"/>
          </a:xfrm>
          <a:prstGeom prst="roundRect">
            <a:avLst>
              <a:gd name="adj" fmla="val 14706"/>
            </a:avLst>
          </a:prstGeom>
          <a:solidFill>
            <a:srgbClr val="3776AB"/>
          </a:solidFill>
        </p:spPr>
      </p:sp>
      <p:sp>
        <p:nvSpPr>
          <p:cNvPr id="5" name="Text 3"/>
          <p:cNvSpPr/>
          <p:nvPr/>
        </p:nvSpPr>
        <p:spPr>
          <a:xfrm>
            <a:off x="7452360" y="91440"/>
            <a:ext cx="141732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PYTHON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640080"/>
            <a:ext cx="841248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B6CB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EJECUCIÓN 1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31520" y="1097280"/>
            <a:ext cx="7680960" cy="3200400"/>
          </a:xfrm>
          <a:prstGeom prst="roundRect">
            <a:avLst>
              <a:gd name="adj" fmla="val 2286"/>
            </a:avLst>
          </a:prstGeom>
          <a:solidFill>
            <a:srgbClr val="EDF2F7"/>
          </a:solidFill>
          <a:ln w="19050">
            <a:solidFill>
              <a:srgbClr val="A0AEC0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731520" y="2468880"/>
            <a:ext cx="768096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Inserta aquí la captura de pantalla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de la ejecución 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74320" y="4754880"/>
            <a:ext cx="77724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Banco de ejercicios · Tema 4 · Lenguajes de simulación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321040" y="4754880"/>
            <a:ext cx="4572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28</a:t>
            </a:r>
            <a:endParaRPr lang="en-US" sz="1000" dirty="0"/>
          </a:p>
        </p:txBody>
      </p:sp>
      <p:pic>
        <p:nvPicPr>
          <p:cNvPr id="11" name="Imagen 1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5775" y="951230"/>
            <a:ext cx="8172450" cy="379603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320040" y="91440"/>
            <a:ext cx="566928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2.  Línea de espera 1 — Relojería (M/M/1) — PYTHON — Ejecución 2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452360" y="73152"/>
            <a:ext cx="1417320" cy="310896"/>
          </a:xfrm>
          <a:prstGeom prst="roundRect">
            <a:avLst>
              <a:gd name="adj" fmla="val 14706"/>
            </a:avLst>
          </a:prstGeom>
          <a:solidFill>
            <a:srgbClr val="3776AB"/>
          </a:solidFill>
        </p:spPr>
      </p:sp>
      <p:sp>
        <p:nvSpPr>
          <p:cNvPr id="5" name="Text 3"/>
          <p:cNvSpPr/>
          <p:nvPr/>
        </p:nvSpPr>
        <p:spPr>
          <a:xfrm>
            <a:off x="7452360" y="91440"/>
            <a:ext cx="141732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PYTHON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640080"/>
            <a:ext cx="841248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B6CB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EJECUCIÓN 2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31520" y="1097280"/>
            <a:ext cx="7680960" cy="3200400"/>
          </a:xfrm>
          <a:prstGeom prst="roundRect">
            <a:avLst>
              <a:gd name="adj" fmla="val 2286"/>
            </a:avLst>
          </a:prstGeom>
          <a:solidFill>
            <a:srgbClr val="EDF2F7"/>
          </a:solidFill>
          <a:ln w="19050">
            <a:solidFill>
              <a:srgbClr val="A0AEC0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731520" y="2468880"/>
            <a:ext cx="768096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Inserta aquí la captura de pantalla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de la ejecución 2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74320" y="4754880"/>
            <a:ext cx="77724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Banco de ejercicios · Tema 4 · Lenguajes de simulación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321040" y="4754880"/>
            <a:ext cx="4572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29</a:t>
            </a:r>
            <a:endParaRPr lang="en-US" sz="1000" dirty="0"/>
          </a:p>
        </p:txBody>
      </p:sp>
      <p:pic>
        <p:nvPicPr>
          <p:cNvPr id="11" name="Imagen 1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3710" y="993775"/>
            <a:ext cx="8195945" cy="3742055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320040" y="91440"/>
            <a:ext cx="566928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2.  Línea de espera 1 — Relojería (M/M/1) — PYTHON — Ejecución 3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452360" y="73152"/>
            <a:ext cx="1417320" cy="310896"/>
          </a:xfrm>
          <a:prstGeom prst="roundRect">
            <a:avLst>
              <a:gd name="adj" fmla="val 14706"/>
            </a:avLst>
          </a:prstGeom>
          <a:solidFill>
            <a:srgbClr val="3776AB"/>
          </a:solidFill>
        </p:spPr>
      </p:sp>
      <p:sp>
        <p:nvSpPr>
          <p:cNvPr id="5" name="Text 3"/>
          <p:cNvSpPr/>
          <p:nvPr/>
        </p:nvSpPr>
        <p:spPr>
          <a:xfrm>
            <a:off x="7452360" y="91440"/>
            <a:ext cx="141732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PYTHON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640080"/>
            <a:ext cx="841248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B6CB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EJECUCIÓN 3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31520" y="1097280"/>
            <a:ext cx="7680960" cy="3200400"/>
          </a:xfrm>
          <a:prstGeom prst="roundRect">
            <a:avLst>
              <a:gd name="adj" fmla="val 2286"/>
            </a:avLst>
          </a:prstGeom>
          <a:solidFill>
            <a:srgbClr val="EDF2F7"/>
          </a:solidFill>
          <a:ln w="19050">
            <a:solidFill>
              <a:srgbClr val="A0AEC0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731520" y="2468880"/>
            <a:ext cx="768096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Inserta aquí la captura de pantalla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de la ejecución 3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74320" y="4754880"/>
            <a:ext cx="77724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Banco de ejercicios · Tema 4 · Lenguajes de simulación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321040" y="4754880"/>
            <a:ext cx="4572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30</a:t>
            </a:r>
            <a:endParaRPr lang="en-US" sz="1000" dirty="0"/>
          </a:p>
        </p:txBody>
      </p:sp>
      <p:pic>
        <p:nvPicPr>
          <p:cNvPr id="11" name="Imagen 1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1330" y="960755"/>
            <a:ext cx="8181340" cy="3772535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320040" y="91440"/>
            <a:ext cx="566928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2.  Línea de espera 1 — Relojería (M/M/1) — PYTHON — Ejecución 4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452360" y="73152"/>
            <a:ext cx="1417320" cy="310896"/>
          </a:xfrm>
          <a:prstGeom prst="roundRect">
            <a:avLst>
              <a:gd name="adj" fmla="val 14706"/>
            </a:avLst>
          </a:prstGeom>
          <a:solidFill>
            <a:srgbClr val="3776AB"/>
          </a:solidFill>
        </p:spPr>
      </p:sp>
      <p:sp>
        <p:nvSpPr>
          <p:cNvPr id="5" name="Text 3"/>
          <p:cNvSpPr/>
          <p:nvPr/>
        </p:nvSpPr>
        <p:spPr>
          <a:xfrm>
            <a:off x="7452360" y="91440"/>
            <a:ext cx="141732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PYTHON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640080"/>
            <a:ext cx="841248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B6CB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EJECUCIÓN 4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31520" y="1097280"/>
            <a:ext cx="7680960" cy="3200400"/>
          </a:xfrm>
          <a:prstGeom prst="roundRect">
            <a:avLst>
              <a:gd name="adj" fmla="val 2286"/>
            </a:avLst>
          </a:prstGeom>
          <a:solidFill>
            <a:srgbClr val="EDF2F7"/>
          </a:solidFill>
          <a:ln w="19050">
            <a:solidFill>
              <a:srgbClr val="A0AEC0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731520" y="2468880"/>
            <a:ext cx="768096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Inserta aquí la captura de pantalla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de la ejecución 4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74320" y="4754880"/>
            <a:ext cx="77724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Banco de ejercicios · Tema 4 · Lenguajes de simulación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321040" y="4754880"/>
            <a:ext cx="4572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31</a:t>
            </a:r>
            <a:endParaRPr lang="en-US" sz="1000" dirty="0"/>
          </a:p>
        </p:txBody>
      </p:sp>
      <p:pic>
        <p:nvPicPr>
          <p:cNvPr id="11" name="Imagen 1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8950" y="986155"/>
            <a:ext cx="8166100" cy="373634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320040" y="91440"/>
            <a:ext cx="566928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2.  Línea de espera 1 — Relojería (M/M/1) — PYTHON — Ejecución 5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452360" y="73152"/>
            <a:ext cx="1417320" cy="310896"/>
          </a:xfrm>
          <a:prstGeom prst="roundRect">
            <a:avLst>
              <a:gd name="adj" fmla="val 14706"/>
            </a:avLst>
          </a:prstGeom>
          <a:solidFill>
            <a:srgbClr val="3776AB"/>
          </a:solidFill>
        </p:spPr>
      </p:sp>
      <p:sp>
        <p:nvSpPr>
          <p:cNvPr id="5" name="Text 3"/>
          <p:cNvSpPr/>
          <p:nvPr/>
        </p:nvSpPr>
        <p:spPr>
          <a:xfrm>
            <a:off x="7452360" y="91440"/>
            <a:ext cx="141732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PYTHON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640080"/>
            <a:ext cx="841248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B6CB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EJECUCIÓN 5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31520" y="1097280"/>
            <a:ext cx="7680960" cy="3200400"/>
          </a:xfrm>
          <a:prstGeom prst="roundRect">
            <a:avLst>
              <a:gd name="adj" fmla="val 2286"/>
            </a:avLst>
          </a:prstGeom>
          <a:solidFill>
            <a:srgbClr val="EDF2F7"/>
          </a:solidFill>
          <a:ln w="19050">
            <a:solidFill>
              <a:srgbClr val="A0AEC0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731520" y="2468880"/>
            <a:ext cx="768096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Inserta aquí la captura de pantalla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de la ejecución 5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74320" y="4754880"/>
            <a:ext cx="77724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Banco de ejercicios · Tema 4 · Lenguajes de simulación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321040" y="4754880"/>
            <a:ext cx="4572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32</a:t>
            </a:r>
            <a:endParaRPr lang="en-US" sz="1000" dirty="0"/>
          </a:p>
        </p:txBody>
      </p:sp>
      <p:pic>
        <p:nvPicPr>
          <p:cNvPr id="11" name="Imagen 1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0535" y="942975"/>
            <a:ext cx="8202295" cy="381254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320040" y="91440"/>
            <a:ext cx="566928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2.  Línea de espera 1 — Relojería (M/M/1) — JAVA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452360" y="73152"/>
            <a:ext cx="1417320" cy="310896"/>
          </a:xfrm>
          <a:prstGeom prst="roundRect">
            <a:avLst>
              <a:gd name="adj" fmla="val 14706"/>
            </a:avLst>
          </a:prstGeom>
          <a:solidFill>
            <a:srgbClr val="B07219"/>
          </a:solidFill>
        </p:spPr>
      </p:sp>
      <p:sp>
        <p:nvSpPr>
          <p:cNvPr id="5" name="Text 3"/>
          <p:cNvSpPr/>
          <p:nvPr/>
        </p:nvSpPr>
        <p:spPr>
          <a:xfrm>
            <a:off x="7452360" y="91440"/>
            <a:ext cx="141732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JAVA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685800"/>
            <a:ext cx="841248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Archivo: LineaEspera1RelojeriaGrafico.java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65760" y="1097280"/>
            <a:ext cx="841248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Generador / entorno: Random + Swing (animación + stats vs teoría)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" y="1554480"/>
            <a:ext cx="841248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javac LineaEspera1RelojeriaGrafico.java &amp;&amp; java LineaEspera1RelojeriaGrafico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65760" y="2377440"/>
            <a:ext cx="841248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Se documentan 5 ejecuciones. Cada una ocupa una diapositiva para insertar la captura de pantalla.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74320" y="4754880"/>
            <a:ext cx="77724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Banco de ejercicios · Tema 4 · Lenguajes de simulación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8321040" y="4754880"/>
            <a:ext cx="4572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33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320040" y="91440"/>
            <a:ext cx="566928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2.  Línea de espera 1 — Relojería (M/M/1) — JAVA — Ejecución 1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452360" y="73152"/>
            <a:ext cx="1417320" cy="310896"/>
          </a:xfrm>
          <a:prstGeom prst="roundRect">
            <a:avLst>
              <a:gd name="adj" fmla="val 14706"/>
            </a:avLst>
          </a:prstGeom>
          <a:solidFill>
            <a:srgbClr val="B07219"/>
          </a:solidFill>
        </p:spPr>
      </p:sp>
      <p:sp>
        <p:nvSpPr>
          <p:cNvPr id="5" name="Text 3"/>
          <p:cNvSpPr/>
          <p:nvPr/>
        </p:nvSpPr>
        <p:spPr>
          <a:xfrm>
            <a:off x="7452360" y="91440"/>
            <a:ext cx="141732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JAVA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640080"/>
            <a:ext cx="841248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B6CB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EJECUCIÓN 1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31520" y="1097280"/>
            <a:ext cx="7680960" cy="3200400"/>
          </a:xfrm>
          <a:prstGeom prst="roundRect">
            <a:avLst>
              <a:gd name="adj" fmla="val 2286"/>
            </a:avLst>
          </a:prstGeom>
          <a:solidFill>
            <a:srgbClr val="EDF2F7"/>
          </a:solidFill>
          <a:ln w="19050">
            <a:solidFill>
              <a:srgbClr val="A0AEC0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731520" y="2468880"/>
            <a:ext cx="768096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Inserta aquí la captura de pantalla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de la ejecución 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74320" y="4754880"/>
            <a:ext cx="77724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Banco de ejercicios · Tema 4 · Lenguajes de simulación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321040" y="4754880"/>
            <a:ext cx="4572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34</a:t>
            </a:r>
            <a:endParaRPr lang="en-US" sz="1000" dirty="0"/>
          </a:p>
        </p:txBody>
      </p:sp>
      <p:pic>
        <p:nvPicPr>
          <p:cNvPr id="11" name="Imagen 1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0200" y="949325"/>
            <a:ext cx="8482965" cy="380619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320040" y="91440"/>
            <a:ext cx="566928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2.  Línea de espera 1 — Relojería (M/M/1) — JAVA — Ejecución 2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452360" y="73152"/>
            <a:ext cx="1417320" cy="310896"/>
          </a:xfrm>
          <a:prstGeom prst="roundRect">
            <a:avLst>
              <a:gd name="adj" fmla="val 14706"/>
            </a:avLst>
          </a:prstGeom>
          <a:solidFill>
            <a:srgbClr val="B07219"/>
          </a:solidFill>
        </p:spPr>
      </p:sp>
      <p:sp>
        <p:nvSpPr>
          <p:cNvPr id="5" name="Text 3"/>
          <p:cNvSpPr/>
          <p:nvPr/>
        </p:nvSpPr>
        <p:spPr>
          <a:xfrm>
            <a:off x="7452360" y="91440"/>
            <a:ext cx="141732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JAVA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640080"/>
            <a:ext cx="841248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B6CB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EJECUCIÓN 2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31520" y="1097280"/>
            <a:ext cx="7680960" cy="3200400"/>
          </a:xfrm>
          <a:prstGeom prst="roundRect">
            <a:avLst>
              <a:gd name="adj" fmla="val 2286"/>
            </a:avLst>
          </a:prstGeom>
          <a:solidFill>
            <a:srgbClr val="EDF2F7"/>
          </a:solidFill>
          <a:ln w="19050">
            <a:solidFill>
              <a:srgbClr val="A0AEC0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731520" y="2468880"/>
            <a:ext cx="768096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Inserta aquí la captura de pantalla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de la ejecución 2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74320" y="4754880"/>
            <a:ext cx="77724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Banco de ejercicios · Tema 4 · Lenguajes de simulación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321040" y="4754880"/>
            <a:ext cx="4572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35</a:t>
            </a:r>
            <a:endParaRPr lang="en-US" sz="1000" dirty="0"/>
          </a:p>
        </p:txBody>
      </p:sp>
      <p:pic>
        <p:nvPicPr>
          <p:cNvPr id="11" name="Imagen 1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6715" y="951230"/>
            <a:ext cx="8369935" cy="380619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320040" y="91440"/>
            <a:ext cx="566928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2.  Línea de espera 1 — Relojería (M/M/1) — JAVA — Ejecución 3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452360" y="73152"/>
            <a:ext cx="1417320" cy="310896"/>
          </a:xfrm>
          <a:prstGeom prst="roundRect">
            <a:avLst>
              <a:gd name="adj" fmla="val 14706"/>
            </a:avLst>
          </a:prstGeom>
          <a:solidFill>
            <a:srgbClr val="B07219"/>
          </a:solidFill>
        </p:spPr>
      </p:sp>
      <p:sp>
        <p:nvSpPr>
          <p:cNvPr id="5" name="Text 3"/>
          <p:cNvSpPr/>
          <p:nvPr/>
        </p:nvSpPr>
        <p:spPr>
          <a:xfrm>
            <a:off x="7452360" y="91440"/>
            <a:ext cx="141732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JAVA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640080"/>
            <a:ext cx="841248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B6CB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EJECUCIÓN 3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31520" y="1097280"/>
            <a:ext cx="7680960" cy="3200400"/>
          </a:xfrm>
          <a:prstGeom prst="roundRect">
            <a:avLst>
              <a:gd name="adj" fmla="val 2286"/>
            </a:avLst>
          </a:prstGeom>
          <a:solidFill>
            <a:srgbClr val="EDF2F7"/>
          </a:solidFill>
          <a:ln w="19050">
            <a:solidFill>
              <a:srgbClr val="A0AEC0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731520" y="2468880"/>
            <a:ext cx="768096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Inserta aquí la captura de pantalla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de la ejecución 3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74320" y="4754880"/>
            <a:ext cx="77724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Banco de ejercicios · Tema 4 · Lenguajes de simulación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321040" y="4754880"/>
            <a:ext cx="4572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36</a:t>
            </a:r>
            <a:endParaRPr lang="en-US" sz="1000" dirty="0"/>
          </a:p>
        </p:txBody>
      </p:sp>
      <p:pic>
        <p:nvPicPr>
          <p:cNvPr id="11" name="Imagen 1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56235" y="960755"/>
            <a:ext cx="8430895" cy="379349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320040" y="91440"/>
            <a:ext cx="566928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2.  Línea de espera 1 — Relojería (M/M/1) — JAVA — Ejecución 4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452360" y="73152"/>
            <a:ext cx="1417320" cy="310896"/>
          </a:xfrm>
          <a:prstGeom prst="roundRect">
            <a:avLst>
              <a:gd name="adj" fmla="val 14706"/>
            </a:avLst>
          </a:prstGeom>
          <a:solidFill>
            <a:srgbClr val="B07219"/>
          </a:solidFill>
        </p:spPr>
      </p:sp>
      <p:sp>
        <p:nvSpPr>
          <p:cNvPr id="5" name="Text 3"/>
          <p:cNvSpPr/>
          <p:nvPr/>
        </p:nvSpPr>
        <p:spPr>
          <a:xfrm>
            <a:off x="7452360" y="91440"/>
            <a:ext cx="141732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JAVA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640080"/>
            <a:ext cx="841248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B6CB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EJECUCIÓN 4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31520" y="1097280"/>
            <a:ext cx="7680960" cy="3200400"/>
          </a:xfrm>
          <a:prstGeom prst="roundRect">
            <a:avLst>
              <a:gd name="adj" fmla="val 2286"/>
            </a:avLst>
          </a:prstGeom>
          <a:solidFill>
            <a:srgbClr val="EDF2F7"/>
          </a:solidFill>
          <a:ln w="19050">
            <a:solidFill>
              <a:srgbClr val="A0AEC0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731520" y="2468880"/>
            <a:ext cx="768096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Inserta aquí la captura de pantalla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de la ejecución 4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74320" y="4754880"/>
            <a:ext cx="77724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Banco de ejercicios · Tema 4 · Lenguajes de simulación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321040" y="4754880"/>
            <a:ext cx="4572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37</a:t>
            </a:r>
            <a:endParaRPr lang="en-US" sz="1000" dirty="0"/>
          </a:p>
        </p:txBody>
      </p:sp>
      <p:pic>
        <p:nvPicPr>
          <p:cNvPr id="11" name="Imagen 1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9090" y="965200"/>
            <a:ext cx="8465820" cy="378079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320040" y="91440"/>
            <a:ext cx="566928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2.  Línea de espera 1 — Relojería (M/M/1) — JAVA — Ejecución 5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452360" y="73152"/>
            <a:ext cx="1417320" cy="310896"/>
          </a:xfrm>
          <a:prstGeom prst="roundRect">
            <a:avLst>
              <a:gd name="adj" fmla="val 14706"/>
            </a:avLst>
          </a:prstGeom>
          <a:solidFill>
            <a:srgbClr val="B07219"/>
          </a:solidFill>
        </p:spPr>
      </p:sp>
      <p:sp>
        <p:nvSpPr>
          <p:cNvPr id="5" name="Text 3"/>
          <p:cNvSpPr/>
          <p:nvPr/>
        </p:nvSpPr>
        <p:spPr>
          <a:xfrm>
            <a:off x="7452360" y="91440"/>
            <a:ext cx="141732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JAVA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640080"/>
            <a:ext cx="841248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B6CB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EJECUCIÓN 5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31520" y="1097280"/>
            <a:ext cx="7680960" cy="3200400"/>
          </a:xfrm>
          <a:prstGeom prst="roundRect">
            <a:avLst>
              <a:gd name="adj" fmla="val 2286"/>
            </a:avLst>
          </a:prstGeom>
          <a:solidFill>
            <a:srgbClr val="EDF2F7"/>
          </a:solidFill>
          <a:ln w="19050">
            <a:solidFill>
              <a:srgbClr val="A0AEC0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731520" y="2468880"/>
            <a:ext cx="768096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Inserta aquí la captura de pantalla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de la ejecución 5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74320" y="4754880"/>
            <a:ext cx="77724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Banco de ejercicios · Tema 4 · Lenguajes de simulación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321040" y="4754880"/>
            <a:ext cx="4572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38</a:t>
            </a:r>
            <a:endParaRPr lang="en-US" sz="1000" dirty="0"/>
          </a:p>
        </p:txBody>
      </p:sp>
      <p:pic>
        <p:nvPicPr>
          <p:cNvPr id="11" name="Imagen 1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8300" y="959485"/>
            <a:ext cx="8407400" cy="3795395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320040" y="91440"/>
            <a:ext cx="566928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2.  Línea de espera 1 — Relojería (M/M/1) — R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452360" y="73152"/>
            <a:ext cx="1417320" cy="310896"/>
          </a:xfrm>
          <a:prstGeom prst="roundRect">
            <a:avLst>
              <a:gd name="adj" fmla="val 14706"/>
            </a:avLst>
          </a:prstGeom>
          <a:solidFill>
            <a:srgbClr val="276DC3"/>
          </a:solidFill>
        </p:spPr>
      </p:sp>
      <p:sp>
        <p:nvSpPr>
          <p:cNvPr id="5" name="Text 3"/>
          <p:cNvSpPr/>
          <p:nvPr/>
        </p:nvSpPr>
        <p:spPr>
          <a:xfrm>
            <a:off x="7452360" y="91440"/>
            <a:ext cx="141732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685800"/>
            <a:ext cx="841248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Archivo: linea_espera_1_relojeria.R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65760" y="1097280"/>
            <a:ext cx="841248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Generador / entorno: runif() + consola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" y="1554480"/>
            <a:ext cx="841248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Rscript linea_espera_1_relojeria.R — avance en consola y tabla Simulación vs Teoría.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65760" y="2377440"/>
            <a:ext cx="841248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Se documentan 5 ejecuciones. Cada una ocupa una diapositiva para insertar la captura de pantalla.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74320" y="4754880"/>
            <a:ext cx="77724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Banco de ejercicios · Tema 4 · Lenguajes de simulación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8321040" y="4754880"/>
            <a:ext cx="4572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39</a:t>
            </a:r>
            <a:endParaRPr lang="en-US" sz="1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320040" y="91440"/>
            <a:ext cx="566928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2.  Línea de espera 1 — Relojería (M/M/1) — R — Ejecución 1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452360" y="73152"/>
            <a:ext cx="1417320" cy="310896"/>
          </a:xfrm>
          <a:prstGeom prst="roundRect">
            <a:avLst>
              <a:gd name="adj" fmla="val 14706"/>
            </a:avLst>
          </a:prstGeom>
          <a:solidFill>
            <a:srgbClr val="276DC3"/>
          </a:solidFill>
        </p:spPr>
      </p:sp>
      <p:sp>
        <p:nvSpPr>
          <p:cNvPr id="5" name="Text 3"/>
          <p:cNvSpPr/>
          <p:nvPr/>
        </p:nvSpPr>
        <p:spPr>
          <a:xfrm>
            <a:off x="7452360" y="91440"/>
            <a:ext cx="141732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640080"/>
            <a:ext cx="841248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B6CB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EJECUCIÓN 1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31520" y="1097280"/>
            <a:ext cx="7680960" cy="3200400"/>
          </a:xfrm>
          <a:prstGeom prst="roundRect">
            <a:avLst>
              <a:gd name="adj" fmla="val 2286"/>
            </a:avLst>
          </a:prstGeom>
          <a:solidFill>
            <a:srgbClr val="EDF2F7"/>
          </a:solidFill>
          <a:ln w="19050">
            <a:solidFill>
              <a:srgbClr val="A0AEC0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731520" y="2468880"/>
            <a:ext cx="768096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Inserta aquí la captura de pantalla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de la ejecución 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74320" y="4754880"/>
            <a:ext cx="77724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Banco de ejercicios · Tema 4 · Lenguajes de simulación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321040" y="4754880"/>
            <a:ext cx="4572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40</a:t>
            </a:r>
            <a:endParaRPr lang="en-US" sz="1000" dirty="0"/>
          </a:p>
        </p:txBody>
      </p:sp>
      <p:pic>
        <p:nvPicPr>
          <p:cNvPr id="11" name="Imagen 1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8605" y="935355"/>
            <a:ext cx="8511540" cy="383794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320040" y="91440"/>
            <a:ext cx="566928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2.  Línea de espera 1 — Relojería (M/M/1) — R — Ejecución 2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452360" y="73152"/>
            <a:ext cx="1417320" cy="310896"/>
          </a:xfrm>
          <a:prstGeom prst="roundRect">
            <a:avLst>
              <a:gd name="adj" fmla="val 14706"/>
            </a:avLst>
          </a:prstGeom>
          <a:solidFill>
            <a:srgbClr val="276DC3"/>
          </a:solidFill>
        </p:spPr>
      </p:sp>
      <p:sp>
        <p:nvSpPr>
          <p:cNvPr id="5" name="Text 3"/>
          <p:cNvSpPr/>
          <p:nvPr/>
        </p:nvSpPr>
        <p:spPr>
          <a:xfrm>
            <a:off x="7452360" y="91440"/>
            <a:ext cx="141732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640080"/>
            <a:ext cx="841248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B6CB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EJECUCIÓN 2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31520" y="1097280"/>
            <a:ext cx="7680960" cy="3200400"/>
          </a:xfrm>
          <a:prstGeom prst="roundRect">
            <a:avLst>
              <a:gd name="adj" fmla="val 2286"/>
            </a:avLst>
          </a:prstGeom>
          <a:solidFill>
            <a:srgbClr val="EDF2F7"/>
          </a:solidFill>
          <a:ln w="19050">
            <a:solidFill>
              <a:srgbClr val="A0AEC0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731520" y="2468880"/>
            <a:ext cx="768096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Inserta aquí la captura de pantalla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de la ejecución 2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74320" y="4754880"/>
            <a:ext cx="77724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Banco de ejercicios · Tema 4 · Lenguajes de simulación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321040" y="4754880"/>
            <a:ext cx="4572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41</a:t>
            </a:r>
            <a:endParaRPr lang="en-US" sz="1000" dirty="0"/>
          </a:p>
        </p:txBody>
      </p:sp>
      <p:pic>
        <p:nvPicPr>
          <p:cNvPr id="11" name="Imagen 1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3685" y="967740"/>
            <a:ext cx="8595995" cy="375793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320040" y="91440"/>
            <a:ext cx="566928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2.  Línea de espera 1 — Relojería (M/M/1) — R — Ejecución 3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452360" y="73152"/>
            <a:ext cx="1417320" cy="310896"/>
          </a:xfrm>
          <a:prstGeom prst="roundRect">
            <a:avLst>
              <a:gd name="adj" fmla="val 14706"/>
            </a:avLst>
          </a:prstGeom>
          <a:solidFill>
            <a:srgbClr val="276DC3"/>
          </a:solidFill>
        </p:spPr>
      </p:sp>
      <p:sp>
        <p:nvSpPr>
          <p:cNvPr id="5" name="Text 3"/>
          <p:cNvSpPr/>
          <p:nvPr/>
        </p:nvSpPr>
        <p:spPr>
          <a:xfrm>
            <a:off x="7452360" y="91440"/>
            <a:ext cx="141732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640080"/>
            <a:ext cx="841248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B6CB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EJECUCIÓN 3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31520" y="1097280"/>
            <a:ext cx="7680960" cy="3200400"/>
          </a:xfrm>
          <a:prstGeom prst="roundRect">
            <a:avLst>
              <a:gd name="adj" fmla="val 2286"/>
            </a:avLst>
          </a:prstGeom>
          <a:solidFill>
            <a:srgbClr val="EDF2F7"/>
          </a:solidFill>
          <a:ln w="19050">
            <a:solidFill>
              <a:srgbClr val="A0AEC0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731520" y="2468880"/>
            <a:ext cx="768096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Inserta aquí la captura de pantalla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de la ejecución 3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74320" y="4754880"/>
            <a:ext cx="77724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Banco de ejercicios · Tema 4 · Lenguajes de simulación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321040" y="4754880"/>
            <a:ext cx="4572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42</a:t>
            </a:r>
            <a:endParaRPr lang="en-US" sz="1000" dirty="0"/>
          </a:p>
        </p:txBody>
      </p:sp>
      <p:pic>
        <p:nvPicPr>
          <p:cNvPr id="11" name="Imagen 1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6715" y="958850"/>
            <a:ext cx="8414385" cy="379603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320040" y="91440"/>
            <a:ext cx="566928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2.  Línea de espera 1 — Relojería (M/M/1) — R — Ejecución 4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452360" y="73152"/>
            <a:ext cx="1417320" cy="310896"/>
          </a:xfrm>
          <a:prstGeom prst="roundRect">
            <a:avLst>
              <a:gd name="adj" fmla="val 14706"/>
            </a:avLst>
          </a:prstGeom>
          <a:solidFill>
            <a:srgbClr val="276DC3"/>
          </a:solidFill>
        </p:spPr>
      </p:sp>
      <p:sp>
        <p:nvSpPr>
          <p:cNvPr id="5" name="Text 3"/>
          <p:cNvSpPr/>
          <p:nvPr/>
        </p:nvSpPr>
        <p:spPr>
          <a:xfrm>
            <a:off x="7452360" y="91440"/>
            <a:ext cx="141732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640080"/>
            <a:ext cx="841248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B6CB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EJECUCIÓN 4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31520" y="1097280"/>
            <a:ext cx="7680960" cy="3200400"/>
          </a:xfrm>
          <a:prstGeom prst="roundRect">
            <a:avLst>
              <a:gd name="adj" fmla="val 2286"/>
            </a:avLst>
          </a:prstGeom>
          <a:solidFill>
            <a:srgbClr val="EDF2F7"/>
          </a:solidFill>
          <a:ln w="19050">
            <a:solidFill>
              <a:srgbClr val="A0AEC0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731520" y="2468880"/>
            <a:ext cx="768096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Inserta aquí la captura de pantalla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de la ejecución 4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74320" y="4754880"/>
            <a:ext cx="77724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Banco de ejercicios · Tema 4 · Lenguajes de simulación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321040" y="4754880"/>
            <a:ext cx="4572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43</a:t>
            </a:r>
            <a:endParaRPr lang="en-US" sz="1000" dirty="0"/>
          </a:p>
        </p:txBody>
      </p:sp>
      <p:pic>
        <p:nvPicPr>
          <p:cNvPr id="11" name="Imagen 1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984885"/>
            <a:ext cx="8432165" cy="3723640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320040" y="91440"/>
            <a:ext cx="566928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2.  Línea de espera 1 — Relojería (M/M/1) — R — Ejecución 5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452360" y="73152"/>
            <a:ext cx="1417320" cy="310896"/>
          </a:xfrm>
          <a:prstGeom prst="roundRect">
            <a:avLst>
              <a:gd name="adj" fmla="val 14706"/>
            </a:avLst>
          </a:prstGeom>
          <a:solidFill>
            <a:srgbClr val="276DC3"/>
          </a:solidFill>
        </p:spPr>
      </p:sp>
      <p:sp>
        <p:nvSpPr>
          <p:cNvPr id="5" name="Text 3"/>
          <p:cNvSpPr/>
          <p:nvPr/>
        </p:nvSpPr>
        <p:spPr>
          <a:xfrm>
            <a:off x="7452360" y="91440"/>
            <a:ext cx="141732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640080"/>
            <a:ext cx="841248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B6CB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EJECUCIÓN 5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31520" y="1097280"/>
            <a:ext cx="7680960" cy="3200400"/>
          </a:xfrm>
          <a:prstGeom prst="roundRect">
            <a:avLst>
              <a:gd name="adj" fmla="val 2286"/>
            </a:avLst>
          </a:prstGeom>
          <a:solidFill>
            <a:srgbClr val="EDF2F7"/>
          </a:solidFill>
          <a:ln w="19050">
            <a:solidFill>
              <a:srgbClr val="A0AEC0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731520" y="2468880"/>
            <a:ext cx="768096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Inserta aquí la captura de pantalla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de la ejecución 5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74320" y="4754880"/>
            <a:ext cx="77724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Banco de ejercicios · Tema 4 · Lenguajes de simulación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321040" y="4754880"/>
            <a:ext cx="4572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44</a:t>
            </a:r>
            <a:endParaRPr lang="en-US" sz="1000" dirty="0"/>
          </a:p>
        </p:txBody>
      </p:sp>
      <p:pic>
        <p:nvPicPr>
          <p:cNvPr id="11" name="Imagen 1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4650" y="957580"/>
            <a:ext cx="8388985" cy="3807460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DD6B20"/>
          </a:solidFill>
        </p:spPr>
      </p:sp>
      <p:sp>
        <p:nvSpPr>
          <p:cNvPr id="3" name="Text 1"/>
          <p:cNvSpPr/>
          <p:nvPr/>
        </p:nvSpPr>
        <p:spPr>
          <a:xfrm>
            <a:off x="457200" y="1737360"/>
            <a:ext cx="82296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EJEMPLO 3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2194560"/>
            <a:ext cx="8229600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LÍNEA DE ESPERA 2 — PUERTO (M/M/C)</a:t>
            </a:r>
            <a:endParaRPr lang="en-US" sz="26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320040" y="91440"/>
            <a:ext cx="566928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3.  Línea de espera 2 — Puerto (M/M/c)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365760" y="640080"/>
            <a:ext cx="2011680" cy="365760"/>
          </a:xfrm>
          <a:prstGeom prst="roundRect">
            <a:avLst>
              <a:gd name="adj" fmla="val 12500"/>
            </a:avLst>
          </a:prstGeom>
          <a:solidFill>
            <a:srgbClr val="DD6B20"/>
          </a:solidFill>
        </p:spPr>
      </p:sp>
      <p:sp>
        <p:nvSpPr>
          <p:cNvPr id="5" name="Text 3"/>
          <p:cNvSpPr/>
          <p:nvPr/>
        </p:nvSpPr>
        <p:spPr>
          <a:xfrm>
            <a:off x="365760" y="685800"/>
            <a:ext cx="201168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Tema 4 · Caso práctico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1188720"/>
            <a:ext cx="8412480" cy="1463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Simula los muelles de descarga de un puerto pesquero (M/M/c): λ = 1 barco/hora, μ = 0.4 por muelle, c muelles (editable). Una sola fila FIFO. Terminación con ≥800 atendidos y sistema vacío. Se comparan Wq, Lq y ρ al variar el número de muelles, frente a la teoría Erlang C.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2834640"/>
            <a:ext cx="841248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B6CB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Archivos: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" y="3154680"/>
            <a:ext cx="841248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linea_espera_2_puerto_grafico.py  ·  LineaEspera2PuertoGrafico.java  ·  linea_espera_2_puerto.R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65760" y="3794760"/>
            <a:ext cx="841248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 continuación: Python, Java y R — cada uno con 5 ejecuciones (una diapositiva por ejecución).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74320" y="4754880"/>
            <a:ext cx="77724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Banco de ejercicios · Tema 4 · Lenguajes de simulación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8321040" y="4754880"/>
            <a:ext cx="4572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46</a:t>
            </a:r>
            <a:endParaRPr lang="en-US" sz="10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320040" y="91440"/>
            <a:ext cx="566928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3.  Línea de espera 2 — Puerto (M/M/c) — PYTHON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452360" y="73152"/>
            <a:ext cx="1417320" cy="310896"/>
          </a:xfrm>
          <a:prstGeom prst="roundRect">
            <a:avLst>
              <a:gd name="adj" fmla="val 14706"/>
            </a:avLst>
          </a:prstGeom>
          <a:solidFill>
            <a:srgbClr val="3776AB"/>
          </a:solidFill>
        </p:spPr>
      </p:sp>
      <p:sp>
        <p:nvSpPr>
          <p:cNvPr id="5" name="Text 3"/>
          <p:cNvSpPr/>
          <p:nvPr/>
        </p:nvSpPr>
        <p:spPr>
          <a:xfrm>
            <a:off x="7452360" y="91440"/>
            <a:ext cx="141732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PYTHON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685800"/>
            <a:ext cx="841248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Archivo: linea_espera_2_puerto_grafico.py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65760" y="1097280"/>
            <a:ext cx="841248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Generador / entorno: random + tkinter (barcos + muelles + stats)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" y="1554480"/>
            <a:ext cx="841248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python linea_espera_2_puerto_grafico.py — cambiar número de muelles y observar Wq/Lq.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65760" y="2377440"/>
            <a:ext cx="841248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Se documentan 5 ejecuciones. Cada una ocupa una diapositiva para insertar la captura de pantalla.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74320" y="4754880"/>
            <a:ext cx="77724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Banco de ejercicios · Tema 4 · Lenguajes de simulación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8321040" y="4754880"/>
            <a:ext cx="4572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47</a:t>
            </a:r>
            <a:endParaRPr lang="en-US" sz="10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320040" y="91440"/>
            <a:ext cx="566928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3.  Línea de espera 2 — Puerto (M/M/c) — PYTHON — Ejecución 1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452360" y="73152"/>
            <a:ext cx="1417320" cy="310896"/>
          </a:xfrm>
          <a:prstGeom prst="roundRect">
            <a:avLst>
              <a:gd name="adj" fmla="val 14706"/>
            </a:avLst>
          </a:prstGeom>
          <a:solidFill>
            <a:srgbClr val="3776AB"/>
          </a:solidFill>
        </p:spPr>
      </p:sp>
      <p:sp>
        <p:nvSpPr>
          <p:cNvPr id="5" name="Text 3"/>
          <p:cNvSpPr/>
          <p:nvPr/>
        </p:nvSpPr>
        <p:spPr>
          <a:xfrm>
            <a:off x="7452360" y="91440"/>
            <a:ext cx="141732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PYTHON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640080"/>
            <a:ext cx="841248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B6CB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EJECUCIÓN 1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31520" y="1097280"/>
            <a:ext cx="7680960" cy="3200400"/>
          </a:xfrm>
          <a:prstGeom prst="roundRect">
            <a:avLst>
              <a:gd name="adj" fmla="val 2286"/>
            </a:avLst>
          </a:prstGeom>
          <a:solidFill>
            <a:srgbClr val="EDF2F7"/>
          </a:solidFill>
          <a:ln w="19050">
            <a:solidFill>
              <a:srgbClr val="A0AEC0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731520" y="2468880"/>
            <a:ext cx="768096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Inserta aquí la captura de pantalla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de la ejecución 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74320" y="4754880"/>
            <a:ext cx="77724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Banco de ejercicios · Tema 4 · Lenguajes de simulación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321040" y="4754880"/>
            <a:ext cx="4572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48</a:t>
            </a:r>
            <a:endParaRPr lang="en-US" sz="1000" dirty="0"/>
          </a:p>
        </p:txBody>
      </p:sp>
      <p:pic>
        <p:nvPicPr>
          <p:cNvPr id="11" name="Imagen 1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6395" y="950595"/>
            <a:ext cx="8535035" cy="3804285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320040" y="91440"/>
            <a:ext cx="566928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3.  Línea de espera 2 — Puerto (M/M/c) — PYTHON — Ejecución 2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452360" y="73152"/>
            <a:ext cx="1417320" cy="310896"/>
          </a:xfrm>
          <a:prstGeom prst="roundRect">
            <a:avLst>
              <a:gd name="adj" fmla="val 14706"/>
            </a:avLst>
          </a:prstGeom>
          <a:solidFill>
            <a:srgbClr val="3776AB"/>
          </a:solidFill>
        </p:spPr>
      </p:sp>
      <p:sp>
        <p:nvSpPr>
          <p:cNvPr id="5" name="Text 3"/>
          <p:cNvSpPr/>
          <p:nvPr/>
        </p:nvSpPr>
        <p:spPr>
          <a:xfrm>
            <a:off x="7452360" y="91440"/>
            <a:ext cx="141732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PYTHON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640080"/>
            <a:ext cx="841248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B6CB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EJECUCIÓN 2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31520" y="1097280"/>
            <a:ext cx="7680960" cy="3200400"/>
          </a:xfrm>
          <a:prstGeom prst="roundRect">
            <a:avLst>
              <a:gd name="adj" fmla="val 2286"/>
            </a:avLst>
          </a:prstGeom>
          <a:solidFill>
            <a:srgbClr val="EDF2F7"/>
          </a:solidFill>
          <a:ln w="19050">
            <a:solidFill>
              <a:srgbClr val="A0AEC0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731520" y="2468880"/>
            <a:ext cx="768096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Inserta aquí la captura de pantalla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de la ejecución 2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74320" y="4754880"/>
            <a:ext cx="77724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Banco de ejercicios · Tema 4 · Lenguajes de simulación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321040" y="4754880"/>
            <a:ext cx="4572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49</a:t>
            </a:r>
            <a:endParaRPr lang="en-US" sz="1000" dirty="0"/>
          </a:p>
        </p:txBody>
      </p:sp>
      <p:pic>
        <p:nvPicPr>
          <p:cNvPr id="11" name="Imagen 1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6250" y="933450"/>
            <a:ext cx="8191500" cy="3814445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320040" y="91440"/>
            <a:ext cx="566928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3.  Línea de espera 2 — Puerto (M/M/c) — PYTHON — Ejecución 3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452360" y="73152"/>
            <a:ext cx="1417320" cy="310896"/>
          </a:xfrm>
          <a:prstGeom prst="roundRect">
            <a:avLst>
              <a:gd name="adj" fmla="val 14706"/>
            </a:avLst>
          </a:prstGeom>
          <a:solidFill>
            <a:srgbClr val="3776AB"/>
          </a:solidFill>
        </p:spPr>
      </p:sp>
      <p:sp>
        <p:nvSpPr>
          <p:cNvPr id="5" name="Text 3"/>
          <p:cNvSpPr/>
          <p:nvPr/>
        </p:nvSpPr>
        <p:spPr>
          <a:xfrm>
            <a:off x="7452360" y="91440"/>
            <a:ext cx="141732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PYTHON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640080"/>
            <a:ext cx="841248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B6CB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EJECUCIÓN 3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31520" y="1097280"/>
            <a:ext cx="7680960" cy="3200400"/>
          </a:xfrm>
          <a:prstGeom prst="roundRect">
            <a:avLst>
              <a:gd name="adj" fmla="val 2286"/>
            </a:avLst>
          </a:prstGeom>
          <a:solidFill>
            <a:srgbClr val="EDF2F7"/>
          </a:solidFill>
          <a:ln w="19050">
            <a:solidFill>
              <a:srgbClr val="A0AEC0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731520" y="2468880"/>
            <a:ext cx="768096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Inserta aquí la captura de pantalla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de la ejecución 3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74320" y="4754880"/>
            <a:ext cx="77724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Banco de ejercicios · Tema 4 · Lenguajes de simulación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321040" y="4754880"/>
            <a:ext cx="4572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50</a:t>
            </a:r>
            <a:endParaRPr lang="en-US" sz="1000" dirty="0"/>
          </a:p>
        </p:txBody>
      </p:sp>
      <p:pic>
        <p:nvPicPr>
          <p:cNvPr id="11" name="Imagen 1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1805" y="955675"/>
            <a:ext cx="8199755" cy="3793490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320040" y="91440"/>
            <a:ext cx="566928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3.  Línea de espera 2 — Puerto (M/M/c) — PYTHON — Ejecución 4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452360" y="73152"/>
            <a:ext cx="1417320" cy="310896"/>
          </a:xfrm>
          <a:prstGeom prst="roundRect">
            <a:avLst>
              <a:gd name="adj" fmla="val 14706"/>
            </a:avLst>
          </a:prstGeom>
          <a:solidFill>
            <a:srgbClr val="3776AB"/>
          </a:solidFill>
        </p:spPr>
      </p:sp>
      <p:sp>
        <p:nvSpPr>
          <p:cNvPr id="5" name="Text 3"/>
          <p:cNvSpPr/>
          <p:nvPr/>
        </p:nvSpPr>
        <p:spPr>
          <a:xfrm>
            <a:off x="7452360" y="91440"/>
            <a:ext cx="141732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PYTHON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640080"/>
            <a:ext cx="841248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B6CB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EJECUCIÓN 4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31520" y="1097280"/>
            <a:ext cx="7680960" cy="3200400"/>
          </a:xfrm>
          <a:prstGeom prst="roundRect">
            <a:avLst>
              <a:gd name="adj" fmla="val 2286"/>
            </a:avLst>
          </a:prstGeom>
          <a:solidFill>
            <a:srgbClr val="EDF2F7"/>
          </a:solidFill>
          <a:ln w="19050">
            <a:solidFill>
              <a:srgbClr val="A0AEC0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731520" y="2468880"/>
            <a:ext cx="768096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Inserta aquí la captura de pantalla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de la ejecución 4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74320" y="4754880"/>
            <a:ext cx="77724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Banco de ejercicios · Tema 4 · Lenguajes de simulación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321040" y="4754880"/>
            <a:ext cx="4572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51</a:t>
            </a:r>
            <a:endParaRPr lang="en-US" sz="1000" dirty="0"/>
          </a:p>
        </p:txBody>
      </p:sp>
      <p:pic>
        <p:nvPicPr>
          <p:cNvPr id="11" name="Imagen 1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960120"/>
            <a:ext cx="8584565" cy="3790315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320040" y="91440"/>
            <a:ext cx="566928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3.  Línea de espera 2 — Puerto (M/M/c) — PYTHON — Ejecución 5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452360" y="73152"/>
            <a:ext cx="1417320" cy="310896"/>
          </a:xfrm>
          <a:prstGeom prst="roundRect">
            <a:avLst>
              <a:gd name="adj" fmla="val 14706"/>
            </a:avLst>
          </a:prstGeom>
          <a:solidFill>
            <a:srgbClr val="3776AB"/>
          </a:solidFill>
        </p:spPr>
      </p:sp>
      <p:sp>
        <p:nvSpPr>
          <p:cNvPr id="5" name="Text 3"/>
          <p:cNvSpPr/>
          <p:nvPr/>
        </p:nvSpPr>
        <p:spPr>
          <a:xfrm>
            <a:off x="7452360" y="91440"/>
            <a:ext cx="141732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PYTHON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640080"/>
            <a:ext cx="841248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B6CB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EJECUCIÓN 5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31520" y="1097280"/>
            <a:ext cx="7680960" cy="3200400"/>
          </a:xfrm>
          <a:prstGeom prst="roundRect">
            <a:avLst>
              <a:gd name="adj" fmla="val 2286"/>
            </a:avLst>
          </a:prstGeom>
          <a:solidFill>
            <a:srgbClr val="EDF2F7"/>
          </a:solidFill>
          <a:ln w="19050">
            <a:solidFill>
              <a:srgbClr val="A0AEC0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731520" y="2468880"/>
            <a:ext cx="768096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Inserta aquí la captura de pantalla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de la ejecución 5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74320" y="4754880"/>
            <a:ext cx="77724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Banco de ejercicios · Tema 4 · Lenguajes de simulación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321040" y="4754880"/>
            <a:ext cx="4572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52</a:t>
            </a:r>
            <a:endParaRPr lang="en-US" sz="1000" dirty="0"/>
          </a:p>
        </p:txBody>
      </p:sp>
      <p:pic>
        <p:nvPicPr>
          <p:cNvPr id="11" name="Imagen 1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924560"/>
            <a:ext cx="8416925" cy="3841115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320040" y="91440"/>
            <a:ext cx="566928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3.  Línea de espera 2 — Puerto (M/M/c) — JAVA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452360" y="73152"/>
            <a:ext cx="1417320" cy="310896"/>
          </a:xfrm>
          <a:prstGeom prst="roundRect">
            <a:avLst>
              <a:gd name="adj" fmla="val 14706"/>
            </a:avLst>
          </a:prstGeom>
          <a:solidFill>
            <a:srgbClr val="B07219"/>
          </a:solidFill>
        </p:spPr>
      </p:sp>
      <p:sp>
        <p:nvSpPr>
          <p:cNvPr id="5" name="Text 3"/>
          <p:cNvSpPr/>
          <p:nvPr/>
        </p:nvSpPr>
        <p:spPr>
          <a:xfrm>
            <a:off x="7452360" y="91440"/>
            <a:ext cx="141732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JAVA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685800"/>
            <a:ext cx="841248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Archivo: LineaEspera2PuertoGrafico.java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65760" y="1097280"/>
            <a:ext cx="841248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Generador / entorno: Random + Swing (barcos + muelles + stats)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" y="1554480"/>
            <a:ext cx="841248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javac LineaEspera2PuertoGrafico.java &amp;&amp; java LineaEspera2PuertoGrafico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65760" y="2377440"/>
            <a:ext cx="841248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Se documentan 5 ejecuciones. Cada una ocupa una diapositiva para insertar la captura de pantalla.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74320" y="4754880"/>
            <a:ext cx="77724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Banco de ejercicios · Tema 4 · Lenguajes de simulación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8321040" y="4754880"/>
            <a:ext cx="4572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53</a:t>
            </a:r>
            <a:endParaRPr lang="en-US" sz="10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320040" y="91440"/>
            <a:ext cx="566928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3.  Línea de espera 2 — Puerto (M/M/c) — JAVA — Ejecución 1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452360" y="73152"/>
            <a:ext cx="1417320" cy="310896"/>
          </a:xfrm>
          <a:prstGeom prst="roundRect">
            <a:avLst>
              <a:gd name="adj" fmla="val 14706"/>
            </a:avLst>
          </a:prstGeom>
          <a:solidFill>
            <a:srgbClr val="B07219"/>
          </a:solidFill>
        </p:spPr>
      </p:sp>
      <p:sp>
        <p:nvSpPr>
          <p:cNvPr id="5" name="Text 3"/>
          <p:cNvSpPr/>
          <p:nvPr/>
        </p:nvSpPr>
        <p:spPr>
          <a:xfrm>
            <a:off x="7452360" y="91440"/>
            <a:ext cx="141732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JAVA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640080"/>
            <a:ext cx="841248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B6CB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EJECUCIÓN 1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31520" y="1097280"/>
            <a:ext cx="7680960" cy="3200400"/>
          </a:xfrm>
          <a:prstGeom prst="roundRect">
            <a:avLst>
              <a:gd name="adj" fmla="val 2286"/>
            </a:avLst>
          </a:prstGeom>
          <a:solidFill>
            <a:srgbClr val="EDF2F7"/>
          </a:solidFill>
          <a:ln w="19050">
            <a:solidFill>
              <a:srgbClr val="A0AEC0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731520" y="2468880"/>
            <a:ext cx="768096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Inserta aquí la captura de pantalla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de la ejecución 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74320" y="4754880"/>
            <a:ext cx="77724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Banco de ejercicios · Tema 4 · Lenguajes de simulación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321040" y="4754880"/>
            <a:ext cx="4572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54</a:t>
            </a:r>
            <a:endParaRPr lang="en-US" sz="1000" dirty="0"/>
          </a:p>
        </p:txBody>
      </p:sp>
      <p:pic>
        <p:nvPicPr>
          <p:cNvPr id="11" name="Imagen 1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0180" y="960120"/>
            <a:ext cx="8803005" cy="3797300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320040" y="91440"/>
            <a:ext cx="566928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3.  Línea de espera 2 — Puerto (M/M/c) — JAVA — Ejecución 2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452360" y="73152"/>
            <a:ext cx="1417320" cy="310896"/>
          </a:xfrm>
          <a:prstGeom prst="roundRect">
            <a:avLst>
              <a:gd name="adj" fmla="val 14706"/>
            </a:avLst>
          </a:prstGeom>
          <a:solidFill>
            <a:srgbClr val="B07219"/>
          </a:solidFill>
        </p:spPr>
      </p:sp>
      <p:sp>
        <p:nvSpPr>
          <p:cNvPr id="5" name="Text 3"/>
          <p:cNvSpPr/>
          <p:nvPr/>
        </p:nvSpPr>
        <p:spPr>
          <a:xfrm>
            <a:off x="7452360" y="91440"/>
            <a:ext cx="141732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JAVA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640080"/>
            <a:ext cx="841248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B6CB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EJECUCIÓN 2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31520" y="1097280"/>
            <a:ext cx="7680960" cy="3200400"/>
          </a:xfrm>
          <a:prstGeom prst="roundRect">
            <a:avLst>
              <a:gd name="adj" fmla="val 2286"/>
            </a:avLst>
          </a:prstGeom>
          <a:solidFill>
            <a:srgbClr val="EDF2F7"/>
          </a:solidFill>
          <a:ln w="19050">
            <a:solidFill>
              <a:srgbClr val="A0AEC0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731520" y="2468880"/>
            <a:ext cx="768096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Inserta aquí la captura de pantalla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de la ejecución 2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74320" y="4754880"/>
            <a:ext cx="77724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Banco de ejercicios · Tema 4 · Lenguajes de simulación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321040" y="4754880"/>
            <a:ext cx="4572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55</a:t>
            </a:r>
            <a:endParaRPr lang="en-US" sz="1000" dirty="0"/>
          </a:p>
        </p:txBody>
      </p:sp>
      <p:pic>
        <p:nvPicPr>
          <p:cNvPr id="11" name="Imagen 1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0655" y="984885"/>
            <a:ext cx="8822690" cy="3769360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320040" y="91440"/>
            <a:ext cx="566928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3.  Línea de espera 2 — Puerto (M/M/c) — JAVA — Ejecución 3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452360" y="73152"/>
            <a:ext cx="1417320" cy="310896"/>
          </a:xfrm>
          <a:prstGeom prst="roundRect">
            <a:avLst>
              <a:gd name="adj" fmla="val 14706"/>
            </a:avLst>
          </a:prstGeom>
          <a:solidFill>
            <a:srgbClr val="B07219"/>
          </a:solidFill>
        </p:spPr>
      </p:sp>
      <p:sp>
        <p:nvSpPr>
          <p:cNvPr id="5" name="Text 3"/>
          <p:cNvSpPr/>
          <p:nvPr/>
        </p:nvSpPr>
        <p:spPr>
          <a:xfrm>
            <a:off x="7452360" y="91440"/>
            <a:ext cx="141732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JAVA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640080"/>
            <a:ext cx="841248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B6CB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EJECUCIÓN 3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31520" y="1097280"/>
            <a:ext cx="7680960" cy="3200400"/>
          </a:xfrm>
          <a:prstGeom prst="roundRect">
            <a:avLst>
              <a:gd name="adj" fmla="val 2286"/>
            </a:avLst>
          </a:prstGeom>
          <a:solidFill>
            <a:srgbClr val="EDF2F7"/>
          </a:solidFill>
          <a:ln w="19050">
            <a:solidFill>
              <a:srgbClr val="A0AEC0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731520" y="2468880"/>
            <a:ext cx="768096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Inserta aquí la captura de pantalla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de la ejecución 3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74320" y="4754880"/>
            <a:ext cx="77724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Banco de ejercicios · Tema 4 · Lenguajes de simulación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321040" y="4754880"/>
            <a:ext cx="4572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56</a:t>
            </a:r>
            <a:endParaRPr lang="en-US" sz="1000" dirty="0"/>
          </a:p>
        </p:txBody>
      </p:sp>
      <p:pic>
        <p:nvPicPr>
          <p:cNvPr id="11" name="Imagen 1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3355" y="934085"/>
            <a:ext cx="8796655" cy="3820160"/>
          </a:xfrm>
          <a:prstGeom prst="rect">
            <a:avLst/>
          </a:prstGeom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320040" y="91440"/>
            <a:ext cx="566928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3.  Línea de espera 2 — Puerto (M/M/c) — JAVA — Ejecución 4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452360" y="73152"/>
            <a:ext cx="1417320" cy="310896"/>
          </a:xfrm>
          <a:prstGeom prst="roundRect">
            <a:avLst>
              <a:gd name="adj" fmla="val 14706"/>
            </a:avLst>
          </a:prstGeom>
          <a:solidFill>
            <a:srgbClr val="B07219"/>
          </a:solidFill>
        </p:spPr>
      </p:sp>
      <p:sp>
        <p:nvSpPr>
          <p:cNvPr id="5" name="Text 3"/>
          <p:cNvSpPr/>
          <p:nvPr/>
        </p:nvSpPr>
        <p:spPr>
          <a:xfrm>
            <a:off x="7452360" y="91440"/>
            <a:ext cx="141732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JAVA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640080"/>
            <a:ext cx="841248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B6CB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EJECUCIÓN 4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31520" y="1097280"/>
            <a:ext cx="7680960" cy="3200400"/>
          </a:xfrm>
          <a:prstGeom prst="roundRect">
            <a:avLst>
              <a:gd name="adj" fmla="val 2286"/>
            </a:avLst>
          </a:prstGeom>
          <a:solidFill>
            <a:srgbClr val="EDF2F7"/>
          </a:solidFill>
          <a:ln w="19050">
            <a:solidFill>
              <a:srgbClr val="A0AEC0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731520" y="2468880"/>
            <a:ext cx="768096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Inserta aquí la captura de pantalla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de la ejecución 4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74320" y="4754880"/>
            <a:ext cx="77724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Banco de ejercicios · Tema 4 · Lenguajes de simulación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321040" y="4754880"/>
            <a:ext cx="4572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57</a:t>
            </a:r>
            <a:endParaRPr lang="en-US" sz="1000" dirty="0"/>
          </a:p>
        </p:txBody>
      </p:sp>
      <p:pic>
        <p:nvPicPr>
          <p:cNvPr id="11" name="Imagen 1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9385" y="932815"/>
            <a:ext cx="8825230" cy="3822065"/>
          </a:xfrm>
          <a:prstGeom prst="rect">
            <a:avLst/>
          </a:prstGeom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320040" y="91440"/>
            <a:ext cx="566928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3.  Línea de espera 2 — Puerto (M/M/c) — JAVA — Ejecución 5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452360" y="73152"/>
            <a:ext cx="1417320" cy="310896"/>
          </a:xfrm>
          <a:prstGeom prst="roundRect">
            <a:avLst>
              <a:gd name="adj" fmla="val 14706"/>
            </a:avLst>
          </a:prstGeom>
          <a:solidFill>
            <a:srgbClr val="B07219"/>
          </a:solidFill>
        </p:spPr>
      </p:sp>
      <p:sp>
        <p:nvSpPr>
          <p:cNvPr id="5" name="Text 3"/>
          <p:cNvSpPr/>
          <p:nvPr/>
        </p:nvSpPr>
        <p:spPr>
          <a:xfrm>
            <a:off x="7452360" y="91440"/>
            <a:ext cx="141732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JAVA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640080"/>
            <a:ext cx="841248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B6CB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EJECUCIÓN 5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31520" y="1097280"/>
            <a:ext cx="7680960" cy="3200400"/>
          </a:xfrm>
          <a:prstGeom prst="roundRect">
            <a:avLst>
              <a:gd name="adj" fmla="val 2286"/>
            </a:avLst>
          </a:prstGeom>
          <a:solidFill>
            <a:srgbClr val="EDF2F7"/>
          </a:solidFill>
          <a:ln w="19050">
            <a:solidFill>
              <a:srgbClr val="A0AEC0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731520" y="2468880"/>
            <a:ext cx="768096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Inserta aquí la captura de pantalla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de la ejecución 5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74320" y="4754880"/>
            <a:ext cx="77724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Banco de ejercicios · Tema 4 · Lenguajes de simulación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321040" y="4754880"/>
            <a:ext cx="4572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58</a:t>
            </a:r>
            <a:endParaRPr lang="en-US" sz="1000" dirty="0"/>
          </a:p>
        </p:txBody>
      </p:sp>
      <p:pic>
        <p:nvPicPr>
          <p:cNvPr id="11" name="Imagen 1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7800" y="949325"/>
            <a:ext cx="8788400" cy="3841750"/>
          </a:xfrm>
          <a:prstGeom prst="rect">
            <a:avLst/>
          </a:prstGeom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320040" y="91440"/>
            <a:ext cx="566928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3.  Línea de espera 2 — Puerto (M/M/c) — R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452360" y="73152"/>
            <a:ext cx="1417320" cy="310896"/>
          </a:xfrm>
          <a:prstGeom prst="roundRect">
            <a:avLst>
              <a:gd name="adj" fmla="val 14706"/>
            </a:avLst>
          </a:prstGeom>
          <a:solidFill>
            <a:srgbClr val="276DC3"/>
          </a:solidFill>
        </p:spPr>
      </p:sp>
      <p:sp>
        <p:nvSpPr>
          <p:cNvPr id="5" name="Text 3"/>
          <p:cNvSpPr/>
          <p:nvPr/>
        </p:nvSpPr>
        <p:spPr>
          <a:xfrm>
            <a:off x="7452360" y="91440"/>
            <a:ext cx="141732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685800"/>
            <a:ext cx="841248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Archivo: linea_espera_2_puerto.R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65760" y="1097280"/>
            <a:ext cx="841248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Generador / entorno: runif() + consola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" y="1554480"/>
            <a:ext cx="841248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Rscript linea_espera_2_puerto.R — resultado c=3 y tabla comparativa c=1..6.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65760" y="2377440"/>
            <a:ext cx="841248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Se documentan 5 ejecuciones. Cada una ocupa una diapositiva para insertar la captura de pantalla.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74320" y="4754880"/>
            <a:ext cx="77724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Banco de ejercicios · Tema 4 · Lenguajes de simulación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8321040" y="4754880"/>
            <a:ext cx="4572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59</a:t>
            </a:r>
            <a:endParaRPr lang="en-US" sz="10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320040" y="91440"/>
            <a:ext cx="566928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3.  Línea de espera 2 — Puerto (M/M/c) — R — Ejecución 1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452360" y="73152"/>
            <a:ext cx="1417320" cy="310896"/>
          </a:xfrm>
          <a:prstGeom prst="roundRect">
            <a:avLst>
              <a:gd name="adj" fmla="val 14706"/>
            </a:avLst>
          </a:prstGeom>
          <a:solidFill>
            <a:srgbClr val="276DC3"/>
          </a:solidFill>
        </p:spPr>
      </p:sp>
      <p:sp>
        <p:nvSpPr>
          <p:cNvPr id="5" name="Text 3"/>
          <p:cNvSpPr/>
          <p:nvPr/>
        </p:nvSpPr>
        <p:spPr>
          <a:xfrm>
            <a:off x="7452360" y="91440"/>
            <a:ext cx="141732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640080"/>
            <a:ext cx="841248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B6CB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EJECUCIÓN 1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31520" y="1097280"/>
            <a:ext cx="7680960" cy="3200400"/>
          </a:xfrm>
          <a:prstGeom prst="roundRect">
            <a:avLst>
              <a:gd name="adj" fmla="val 2286"/>
            </a:avLst>
          </a:prstGeom>
          <a:solidFill>
            <a:srgbClr val="EDF2F7"/>
          </a:solidFill>
          <a:ln w="19050">
            <a:solidFill>
              <a:srgbClr val="A0AEC0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731520" y="2468880"/>
            <a:ext cx="768096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Inserta aquí la captura de pantalla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de la ejecución 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74320" y="4754880"/>
            <a:ext cx="77724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Banco de ejercicios · Tema 4 · Lenguajes de simulación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321040" y="4754880"/>
            <a:ext cx="4572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60</a:t>
            </a:r>
            <a:endParaRPr lang="en-US" sz="1000" dirty="0"/>
          </a:p>
        </p:txBody>
      </p:sp>
      <p:pic>
        <p:nvPicPr>
          <p:cNvPr id="11" name="Imagen 1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6395" y="960120"/>
            <a:ext cx="8412480" cy="3811905"/>
          </a:xfrm>
          <a:prstGeom prst="rect">
            <a:avLst/>
          </a:prstGeom>
        </p:spPr>
      </p:pic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320040" y="91440"/>
            <a:ext cx="566928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3.  Línea de espera 2 — Puerto (M/M/c) — R — Ejecución 2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452360" y="73152"/>
            <a:ext cx="1417320" cy="310896"/>
          </a:xfrm>
          <a:prstGeom prst="roundRect">
            <a:avLst>
              <a:gd name="adj" fmla="val 14706"/>
            </a:avLst>
          </a:prstGeom>
          <a:solidFill>
            <a:srgbClr val="276DC3"/>
          </a:solidFill>
        </p:spPr>
      </p:sp>
      <p:sp>
        <p:nvSpPr>
          <p:cNvPr id="5" name="Text 3"/>
          <p:cNvSpPr/>
          <p:nvPr/>
        </p:nvSpPr>
        <p:spPr>
          <a:xfrm>
            <a:off x="7452360" y="91440"/>
            <a:ext cx="141732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640080"/>
            <a:ext cx="841248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B6CB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EJECUCIÓN 2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31520" y="1097280"/>
            <a:ext cx="7680960" cy="3200400"/>
          </a:xfrm>
          <a:prstGeom prst="roundRect">
            <a:avLst>
              <a:gd name="adj" fmla="val 2286"/>
            </a:avLst>
          </a:prstGeom>
          <a:solidFill>
            <a:srgbClr val="EDF2F7"/>
          </a:solidFill>
          <a:ln w="19050">
            <a:solidFill>
              <a:srgbClr val="A0AEC0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731520" y="2468880"/>
            <a:ext cx="768096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Inserta aquí la captura de pantalla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de la ejecución 2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74320" y="4754880"/>
            <a:ext cx="77724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Banco de ejercicios · Tema 4 · Lenguajes de simulación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321040" y="4754880"/>
            <a:ext cx="4572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61</a:t>
            </a:r>
            <a:endParaRPr lang="en-US" sz="1000" dirty="0"/>
          </a:p>
        </p:txBody>
      </p:sp>
      <p:pic>
        <p:nvPicPr>
          <p:cNvPr id="11" name="Imagen 1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5920" y="951865"/>
            <a:ext cx="8418195" cy="3772535"/>
          </a:xfrm>
          <a:prstGeom prst="rect">
            <a:avLst/>
          </a:prstGeom>
        </p:spPr>
      </p:pic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320040" y="91440"/>
            <a:ext cx="566928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3.  Línea de espera 2 — Puerto (M/M/c) — R — Ejecución 3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452360" y="73152"/>
            <a:ext cx="1417320" cy="310896"/>
          </a:xfrm>
          <a:prstGeom prst="roundRect">
            <a:avLst>
              <a:gd name="adj" fmla="val 14706"/>
            </a:avLst>
          </a:prstGeom>
          <a:solidFill>
            <a:srgbClr val="276DC3"/>
          </a:solidFill>
        </p:spPr>
      </p:sp>
      <p:sp>
        <p:nvSpPr>
          <p:cNvPr id="5" name="Text 3"/>
          <p:cNvSpPr/>
          <p:nvPr/>
        </p:nvSpPr>
        <p:spPr>
          <a:xfrm>
            <a:off x="7452360" y="91440"/>
            <a:ext cx="141732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640080"/>
            <a:ext cx="841248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B6CB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EJECUCIÓN 3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31520" y="1097280"/>
            <a:ext cx="7680960" cy="3200400"/>
          </a:xfrm>
          <a:prstGeom prst="roundRect">
            <a:avLst>
              <a:gd name="adj" fmla="val 2286"/>
            </a:avLst>
          </a:prstGeom>
          <a:solidFill>
            <a:srgbClr val="EDF2F7"/>
          </a:solidFill>
          <a:ln w="19050">
            <a:solidFill>
              <a:srgbClr val="A0AEC0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731520" y="2468880"/>
            <a:ext cx="768096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Inserta aquí la captura de pantalla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de la ejecución 3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74320" y="4754880"/>
            <a:ext cx="77724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Banco de ejercicios · Tema 4 · Lenguajes de simulación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321040" y="4754880"/>
            <a:ext cx="4572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62</a:t>
            </a:r>
            <a:endParaRPr lang="en-US" sz="1000" dirty="0"/>
          </a:p>
        </p:txBody>
      </p:sp>
      <p:pic>
        <p:nvPicPr>
          <p:cNvPr id="11" name="Imagen 1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960755"/>
            <a:ext cx="8430260" cy="3766820"/>
          </a:xfrm>
          <a:prstGeom prst="rect">
            <a:avLst/>
          </a:prstGeom>
        </p:spPr>
      </p:pic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320040" y="91440"/>
            <a:ext cx="566928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3.  Línea de espera 2 — Puerto (M/M/c) — R — Ejecución 4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452360" y="73152"/>
            <a:ext cx="1417320" cy="310896"/>
          </a:xfrm>
          <a:prstGeom prst="roundRect">
            <a:avLst>
              <a:gd name="adj" fmla="val 14706"/>
            </a:avLst>
          </a:prstGeom>
          <a:solidFill>
            <a:srgbClr val="276DC3"/>
          </a:solidFill>
        </p:spPr>
      </p:sp>
      <p:sp>
        <p:nvSpPr>
          <p:cNvPr id="5" name="Text 3"/>
          <p:cNvSpPr/>
          <p:nvPr/>
        </p:nvSpPr>
        <p:spPr>
          <a:xfrm>
            <a:off x="7452360" y="91440"/>
            <a:ext cx="141732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640080"/>
            <a:ext cx="841248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B6CB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EJECUCIÓN 4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31520" y="1097280"/>
            <a:ext cx="7680960" cy="3200400"/>
          </a:xfrm>
          <a:prstGeom prst="roundRect">
            <a:avLst>
              <a:gd name="adj" fmla="val 2286"/>
            </a:avLst>
          </a:prstGeom>
          <a:solidFill>
            <a:srgbClr val="EDF2F7"/>
          </a:solidFill>
          <a:ln w="19050">
            <a:solidFill>
              <a:srgbClr val="A0AEC0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731520" y="2468880"/>
            <a:ext cx="768096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Inserta aquí la captura de pantalla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de la ejecución 4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74320" y="4754880"/>
            <a:ext cx="77724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Banco de ejercicios · Tema 4 · Lenguajes de simulación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321040" y="4754880"/>
            <a:ext cx="4572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63</a:t>
            </a:r>
            <a:endParaRPr lang="en-US" sz="1000" dirty="0"/>
          </a:p>
        </p:txBody>
      </p:sp>
      <p:pic>
        <p:nvPicPr>
          <p:cNvPr id="11" name="Imagen 1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6395" y="960120"/>
            <a:ext cx="8412480" cy="3821430"/>
          </a:xfrm>
          <a:prstGeom prst="rect">
            <a:avLst/>
          </a:prstGeom>
        </p:spPr>
      </p:pic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320040" y="91440"/>
            <a:ext cx="566928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3.  Línea de espera 2 — Puerto (M/M/c) — R — Ejecución 5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452360" y="73152"/>
            <a:ext cx="1417320" cy="310896"/>
          </a:xfrm>
          <a:prstGeom prst="roundRect">
            <a:avLst>
              <a:gd name="adj" fmla="val 14706"/>
            </a:avLst>
          </a:prstGeom>
          <a:solidFill>
            <a:srgbClr val="276DC3"/>
          </a:solidFill>
        </p:spPr>
      </p:sp>
      <p:sp>
        <p:nvSpPr>
          <p:cNvPr id="5" name="Text 3"/>
          <p:cNvSpPr/>
          <p:nvPr/>
        </p:nvSpPr>
        <p:spPr>
          <a:xfrm>
            <a:off x="7452360" y="91440"/>
            <a:ext cx="141732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640080"/>
            <a:ext cx="841248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B6CB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EJECUCIÓN 5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31520" y="1097280"/>
            <a:ext cx="7680960" cy="3200400"/>
          </a:xfrm>
          <a:prstGeom prst="roundRect">
            <a:avLst>
              <a:gd name="adj" fmla="val 2286"/>
            </a:avLst>
          </a:prstGeom>
          <a:solidFill>
            <a:srgbClr val="EDF2F7"/>
          </a:solidFill>
          <a:ln w="19050">
            <a:solidFill>
              <a:srgbClr val="A0AEC0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731520" y="2468880"/>
            <a:ext cx="768096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Inserta aquí la captura de pantalla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i="1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de la ejecución 5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74320" y="4754880"/>
            <a:ext cx="77724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Banco de ejercicios · Tema 4 · Lenguajes de simulación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321040" y="4754880"/>
            <a:ext cx="4572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64</a:t>
            </a:r>
            <a:endParaRPr lang="en-US" sz="1000" dirty="0"/>
          </a:p>
        </p:txBody>
      </p:sp>
      <p:pic>
        <p:nvPicPr>
          <p:cNvPr id="11" name="Imagen 1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7980" y="957580"/>
            <a:ext cx="8239760" cy="3797300"/>
          </a:xfrm>
          <a:prstGeom prst="rect">
            <a:avLst/>
          </a:prstGeom>
        </p:spPr>
      </p:pic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A365D"/>
          </a:solidFill>
        </p:spPr>
      </p:sp>
      <p:sp>
        <p:nvSpPr>
          <p:cNvPr id="3" name="Text 1"/>
          <p:cNvSpPr/>
          <p:nvPr/>
        </p:nvSpPr>
        <p:spPr>
          <a:xfrm>
            <a:off x="320040" y="91440"/>
            <a:ext cx="566928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Conclusión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365760" y="640080"/>
            <a:ext cx="8412480" cy="1371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Durante el desarrollo de este banco de ejercicios se ejecutaron, en cinco corridas por archivo, los nueve programas del Tema 4 (inventario con política Q,R; cola M/M/1 de relojería; cola M/M/c de puerto) en Python, Java y R. Cada ejecución permite observar la variabilidad de los resultados cuando la semilla no se fija y la reproducibilidad cuando sí se fija, evidenciando el comportamiento del generador pseudoaleatorio y del motor de eventos discretos.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365760" y="2194560"/>
            <a:ext cx="8412480" cy="1371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20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Se identificaron similitudes entre lenguajes (misma lógica de transformada inversa, mismos parámetros de cada caso, mismo contraste con la teoría) y diferencias de entorno (animación tkinter/Swing frente a consola en R). Con ello se refuerza el manejo práctico de simuladores de inventarios y líneas de espera, alineado con la competencia 4 de la Instrumentación Didáctica (SCD-1022).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274320" y="4754880"/>
            <a:ext cx="77724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Banco de ejercicios · Tema 4 · Lenguajes de simulación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321040" y="4754880"/>
            <a:ext cx="4572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809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65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16809</Words>
  <Application>WPS Presentation</Application>
  <PresentationFormat>On-screen Show (16:9)</PresentationFormat>
  <Paragraphs>855</Paragraphs>
  <Slides>65</Slides>
  <Notes>65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65</vt:i4>
      </vt:variant>
    </vt:vector>
  </HeadingPairs>
  <TitlesOfParts>
    <vt:vector size="74" baseType="lpstr">
      <vt:lpstr>Arial</vt:lpstr>
      <vt:lpstr>SimSun</vt:lpstr>
      <vt:lpstr>Wingdings</vt:lpstr>
      <vt:lpstr>Calibri</vt:lpstr>
      <vt:lpstr>Calibri</vt:lpstr>
      <vt:lpstr>Calibri</vt:lpstr>
      <vt:lpstr>Microsoft YaHei</vt:lpstr>
      <vt:lpstr>Arial Unicode MS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Actividad 4.3 Banco de Ejercicios Tema 4</dc:title>
  <dc:creator>Jose Angel Gomez Rincon</dc:creator>
  <dc:subject>PptxGenJS Presentation</dc:subject>
  <cp:lastModifiedBy>EVIL RABYT</cp:lastModifiedBy>
  <cp:revision>5</cp:revision>
  <dcterms:created xsi:type="dcterms:W3CDTF">2026-10-01T22:48:00Z</dcterms:created>
  <dcterms:modified xsi:type="dcterms:W3CDTF">2026-10-03T05:26:41Z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2058-12.1.0.28485</vt:lpwstr>
  </property>
  <property fmtid="{D5CDD505-2E9C-101B-9397-08002B2CF9AE}" pid="3" name="ICV">
    <vt:lpwstr>5E77757A6A6B4FDEBFB7CC9A22195CF8_13</vt:lpwstr>
  </property>
</Properties>
</file>
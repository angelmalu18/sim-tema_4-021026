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335" r:id="rId24"/>
    <p:sldId id="276" r:id="rId25"/>
    <p:sldId id="277" r:id="rId26"/>
    <p:sldId id="278" r:id="rId27"/>
    <p:sldId id="279" r:id="rId28"/>
    <p:sldId id="280" r:id="rId29"/>
    <p:sldId id="281" r:id="rId30"/>
    <p:sldId id="333" r:id="rId31"/>
    <p:sldId id="282" r:id="rId32"/>
    <p:sldId id="283" r:id="rId33"/>
    <p:sldId id="284" r:id="rId34"/>
    <p:sldId id="334" r:id="rId35"/>
    <p:sldId id="285" r:id="rId36"/>
    <p:sldId id="336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37" r:id="rId56"/>
    <p:sldId id="304" r:id="rId57"/>
    <p:sldId id="305" r:id="rId58"/>
    <p:sldId id="338" r:id="rId59"/>
    <p:sldId id="306" r:id="rId60"/>
    <p:sldId id="307" r:id="rId61"/>
    <p:sldId id="308" r:id="rId62"/>
    <p:sldId id="309" r:id="rId63"/>
    <p:sldId id="310" r:id="rId64"/>
    <p:sldId id="311" r:id="rId65"/>
    <p:sldId id="312" r:id="rId66"/>
    <p:sldId id="313" r:id="rId67"/>
    <p:sldId id="314" r:id="rId68"/>
    <p:sldId id="315" r:id="rId69"/>
    <p:sldId id="316" r:id="rId70"/>
    <p:sldId id="339" r:id="rId71"/>
    <p:sldId id="317" r:id="rId72"/>
    <p:sldId id="340" r:id="rId73"/>
    <p:sldId id="341" r:id="rId74"/>
    <p:sldId id="318" r:id="rId75"/>
    <p:sldId id="319" r:id="rId76"/>
    <p:sldId id="320" r:id="rId77"/>
    <p:sldId id="321" r:id="rId78"/>
    <p:sldId id="342" r:id="rId79"/>
    <p:sldId id="322" r:id="rId80"/>
    <p:sldId id="343" r:id="rId81"/>
    <p:sldId id="323" r:id="rId82"/>
    <p:sldId id="324" r:id="rId83"/>
    <p:sldId id="325" r:id="rId84"/>
    <p:sldId id="326" r:id="rId85"/>
    <p:sldId id="327" r:id="rId86"/>
    <p:sldId id="344" r:id="rId87"/>
    <p:sldId id="328" r:id="rId88"/>
    <p:sldId id="329" r:id="rId89"/>
    <p:sldId id="330" r:id="rId90"/>
    <p:sldId id="331" r:id="rId91"/>
    <p:sldId id="332" r:id="rId92"/>
    <p:sldId id="345" r:id="rId9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6" Type="http://schemas.openxmlformats.org/officeDocument/2006/relationships/tableStyles" Target="tableStyles.xml"/><Relationship Id="rId95" Type="http://schemas.openxmlformats.org/officeDocument/2006/relationships/viewProps" Target="viewProps.xml"/><Relationship Id="rId94" Type="http://schemas.openxmlformats.org/officeDocument/2006/relationships/presProps" Target="presProps.xml"/><Relationship Id="rId93" Type="http://schemas.openxmlformats.org/officeDocument/2006/relationships/slide" Target="slides/slide90.xml"/><Relationship Id="rId92" Type="http://schemas.openxmlformats.org/officeDocument/2006/relationships/slide" Target="slides/slide89.xml"/><Relationship Id="rId91" Type="http://schemas.openxmlformats.org/officeDocument/2006/relationships/slide" Target="slides/slide88.xml"/><Relationship Id="rId90" Type="http://schemas.openxmlformats.org/officeDocument/2006/relationships/slide" Target="slides/slide87.xml"/><Relationship Id="rId9" Type="http://schemas.openxmlformats.org/officeDocument/2006/relationships/slide" Target="slides/slide6.xml"/><Relationship Id="rId89" Type="http://schemas.openxmlformats.org/officeDocument/2006/relationships/slide" Target="slides/slide86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3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4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5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7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9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0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2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3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5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6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7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8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9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3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5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6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9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1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4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5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6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7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8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9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0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1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2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3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4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5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6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7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8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9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0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1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2.pn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3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4.png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5.png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6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7.png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8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9.png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0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1.png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2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3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4.png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5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6.png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7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8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9.png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TECNOLÓGICO NACIONAL DE MÉXICO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AE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UNIDAD ACADÉMICA VENUSTIANO CARRANZA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AE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INGENIERÍA EN SISTEMAS COMPUTACIONALES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REPORTE DE PRÁCTICA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0CDF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Actividad 4.2 — Tema 4: Lenguajes de Simulación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0AE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Inventarios (Q,R)  ·  Línea de espera M/M/1  ·  Línea de espera M/M/c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371600" y="2194560"/>
            <a:ext cx="2011680" cy="438912"/>
          </a:xfrm>
          <a:prstGeom prst="roundRect">
            <a:avLst>
              <a:gd name="adj" fmla="val 12500"/>
            </a:avLst>
          </a:prstGeom>
          <a:solidFill>
            <a:srgbClr val="38A169"/>
          </a:solidFill>
        </p:spPr>
      </p:sp>
      <p:sp>
        <p:nvSpPr>
          <p:cNvPr id="10" name="Text 8"/>
          <p:cNvSpPr/>
          <p:nvPr/>
        </p:nvSpPr>
        <p:spPr>
          <a:xfrm>
            <a:off x="1371600" y="2286000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Inventario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0" y="2194560"/>
            <a:ext cx="2011680" cy="438912"/>
          </a:xfrm>
          <a:prstGeom prst="roundRect">
            <a:avLst>
              <a:gd name="adj" fmla="val 12500"/>
            </a:avLst>
          </a:prstGeom>
          <a:solidFill>
            <a:srgbClr val="805AD5"/>
          </a:solidFill>
        </p:spPr>
      </p:sp>
      <p:sp>
        <p:nvSpPr>
          <p:cNvPr id="12" name="Text 10"/>
          <p:cNvSpPr/>
          <p:nvPr/>
        </p:nvSpPr>
        <p:spPr>
          <a:xfrm>
            <a:off x="3657600" y="2286000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Relojería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0" y="2194560"/>
            <a:ext cx="2011680" cy="438912"/>
          </a:xfrm>
          <a:prstGeom prst="roundRect">
            <a:avLst>
              <a:gd name="adj" fmla="val 12500"/>
            </a:avLst>
          </a:prstGeom>
          <a:solidFill>
            <a:srgbClr val="DD6B20"/>
          </a:solidFill>
        </p:spPr>
      </p:sp>
      <p:sp>
        <p:nvSpPr>
          <p:cNvPr id="14" name="Text 12"/>
          <p:cNvSpPr/>
          <p:nvPr/>
        </p:nvSpPr>
        <p:spPr>
          <a:xfrm>
            <a:off x="5943600" y="2286000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Puerto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2880360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 ·  Java  ·  R   —   Documentación completa por bloques de código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3291840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DOCENTE: Ing. Francisco Javier Mingo Velázquez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3657600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PRESENTA: José Ángel Gómez Rincón  |  Matrícula: 241260049  |  Semestre: Quinto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4069080"/>
            <a:ext cx="8229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0AE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 de octubre de 2026  ·  Venustiano Carranza, Chiapas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434840"/>
            <a:ext cx="8229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0AE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Asignatura: Simulación  |  Clave: SCD-1022  |  Plan: ISIC 2010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228600" y="64008"/>
            <a:ext cx="5212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Introducción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20040" y="594360"/>
            <a:ext cx="850392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 práctica del Tema 4 implementa tres casos prácticos de simulación de eventos discretos en Python, Java y R: (1) sistema de inventarios con política (Q, R) en una forrajería; (2) línea de espera M/M/1 en una relojería; (3) línea de espera M/M/c en muelles de un puerto pesquero.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20040" y="1645920"/>
            <a:ext cx="850392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Cada archivo se documenta por bloques de código (importaciones, parámetros, generadores, modelo, interfaz, ciclo principal) indicando el rango de líneas, qué hace el bloque y cómo se relaciona con los subtemas 4.1–4.4 de la Instrumentación Didáctica (SCD-1022). Tras la explicación de cada archivo se incluye una diapositiva de ejecución para la captura de resultados.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28600" y="4773168"/>
            <a:ext cx="80467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José Ángel Gómez Rincón | 241260049 | Tema 4 · Actividad 4.2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366760" y="4773168"/>
            <a:ext cx="457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228600" y="64008"/>
            <a:ext cx="5212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Objetivo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20040" y="594360"/>
            <a:ext cx="8503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Documentar de forma exhaustiva la implementación de tres simuladores (inventarios y líneas de espera) en Python, Java y R, bloque por bloque, relacionando cada fragmento con el Tema 4 de la Instrumentación Didáctica.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8412480" cy="502920"/>
          </a:xfrm>
          <a:prstGeom prst="roundRect">
            <a:avLst>
              <a:gd name="adj" fmla="val 9091"/>
            </a:avLst>
          </a:prstGeom>
          <a:solidFill>
            <a:srgbClr val="EBF8FF"/>
          </a:solidFill>
        </p:spPr>
      </p:sp>
      <p:sp>
        <p:nvSpPr>
          <p:cNvPr id="6" name="Text 4"/>
          <p:cNvSpPr/>
          <p:nvPr/>
        </p:nvSpPr>
        <p:spPr>
          <a:xfrm>
            <a:off x="502920" y="1444752"/>
            <a:ext cx="8138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Explicar todas las importaciones y herramientas de cada lenguaje que hacen posible el simulador.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011680"/>
            <a:ext cx="8412480" cy="502920"/>
          </a:xfrm>
          <a:prstGeom prst="roundRect">
            <a:avLst>
              <a:gd name="adj" fmla="val 9091"/>
            </a:avLst>
          </a:prstGeom>
          <a:solidFill>
            <a:srgbClr val="EBF8FF"/>
          </a:solidFill>
        </p:spPr>
      </p:sp>
      <p:sp>
        <p:nvSpPr>
          <p:cNvPr id="8" name="Text 6"/>
          <p:cNvSpPr/>
          <p:nvPr/>
        </p:nvSpPr>
        <p:spPr>
          <a:xfrm>
            <a:off x="502920" y="2084832"/>
            <a:ext cx="8138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Describir parámetros, generadores de VA, motor de eventos, interfaz gráfica y ciclo de animación.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651760"/>
            <a:ext cx="8412480" cy="502920"/>
          </a:xfrm>
          <a:prstGeom prst="roundRect">
            <a:avLst>
              <a:gd name="adj" fmla="val 9091"/>
            </a:avLst>
          </a:prstGeom>
          <a:solidFill>
            <a:srgbClr val="EBF8FF"/>
          </a:solidFill>
        </p:spPr>
      </p:sp>
      <p:sp>
        <p:nvSpPr>
          <p:cNvPr id="10" name="Text 8"/>
          <p:cNvSpPr/>
          <p:nvPr/>
        </p:nvSpPr>
        <p:spPr>
          <a:xfrm>
            <a:off x="502920" y="2724912"/>
            <a:ext cx="8138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Relacionar cada bloque con 4.1 (lenguaje/simulador), 4.2 (uso), 4.3.1/4.3.2 (casos) y 4.4 (validación).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291840"/>
            <a:ext cx="8412480" cy="502920"/>
          </a:xfrm>
          <a:prstGeom prst="roundRect">
            <a:avLst>
              <a:gd name="adj" fmla="val 9091"/>
            </a:avLst>
          </a:prstGeom>
          <a:solidFill>
            <a:srgbClr val="EBF8FF"/>
          </a:solidFill>
        </p:spPr>
      </p:sp>
      <p:sp>
        <p:nvSpPr>
          <p:cNvPr id="12" name="Text 10"/>
          <p:cNvSpPr/>
          <p:nvPr/>
        </p:nvSpPr>
        <p:spPr>
          <a:xfrm>
            <a:off x="502920" y="3364992"/>
            <a:ext cx="8138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Incluir una diapositiva de ejecución por cada uno de los nueve archivos fuente.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28600" y="4773168"/>
            <a:ext cx="80467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José Ángel Gómez Rincón | 241260049 | Tema 4 · Actividad 4.2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366760" y="4773168"/>
            <a:ext cx="457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228600" y="64008"/>
            <a:ext cx="5212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Justificación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20040" y="594360"/>
            <a:ext cx="850392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 competencia 4 de la Instrumentación Didáctica exige distinguir las características de los lenguajes de simulación y de los simuladores para simular sistemas de líneas de espera o de inventarios, aplicando los componentes de los temas anteriores.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20040" y="1691640"/>
            <a:ext cx="850392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Documentar importaciones, generadores, motor de eventos e interfaz permite evidenciar el aprendizaje y uso del simulador (4.2), los casos prácticos 4.3.1 y 4.3.2, y la validación frente a fórmulas teóricas (4.4), cumpliendo el reporte de práctica solicitado en la instrumentación.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28600" y="4773168"/>
            <a:ext cx="80467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José Ángel Gómez Rincón | 241260049 | Tema 4 · Actividad 4.2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366760" y="4773168"/>
            <a:ext cx="457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228600" y="64008"/>
            <a:ext cx="5212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Marco teórico — Tema 4 (SCD-1022)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640080"/>
            <a:ext cx="4114800" cy="640080"/>
          </a:xfrm>
          <a:prstGeom prst="roundRect">
            <a:avLst>
              <a:gd name="adj" fmla="val 5714"/>
            </a:avLst>
          </a:prstGeom>
          <a:solidFill>
            <a:srgbClr val="EBF8FF"/>
          </a:solidFill>
        </p:spPr>
      </p:sp>
      <p:sp>
        <p:nvSpPr>
          <p:cNvPr id="5" name="Text 3"/>
          <p:cNvSpPr/>
          <p:nvPr/>
        </p:nvSpPr>
        <p:spPr>
          <a:xfrm>
            <a:off x="457200" y="804672"/>
            <a:ext cx="914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6C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417320" y="804672"/>
            <a:ext cx="2834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Lenguaje de simulación y simuladores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4114800" cy="640080"/>
          </a:xfrm>
          <a:prstGeom prst="roundRect">
            <a:avLst>
              <a:gd name="adj" fmla="val 5714"/>
            </a:avLst>
          </a:prstGeom>
          <a:solidFill>
            <a:srgbClr val="EBF8FF"/>
          </a:solidFill>
        </p:spPr>
      </p:sp>
      <p:sp>
        <p:nvSpPr>
          <p:cNvPr id="8" name="Text 6"/>
          <p:cNvSpPr/>
          <p:nvPr/>
        </p:nvSpPr>
        <p:spPr>
          <a:xfrm>
            <a:off x="457200" y="1581912"/>
            <a:ext cx="914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6C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17320" y="1581912"/>
            <a:ext cx="2834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Aprendizaje y uso de un lenguaje o simulador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2194560"/>
            <a:ext cx="4114800" cy="640080"/>
          </a:xfrm>
          <a:prstGeom prst="roundRect">
            <a:avLst>
              <a:gd name="adj" fmla="val 5714"/>
            </a:avLst>
          </a:prstGeom>
          <a:solidFill>
            <a:srgbClr val="EBF8FF"/>
          </a:solidFill>
        </p:spPr>
      </p:sp>
      <p:sp>
        <p:nvSpPr>
          <p:cNvPr id="11" name="Text 9"/>
          <p:cNvSpPr/>
          <p:nvPr/>
        </p:nvSpPr>
        <p:spPr>
          <a:xfrm>
            <a:off x="457200" y="2359152"/>
            <a:ext cx="914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6C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359152"/>
            <a:ext cx="2834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Casos prácticos de simulación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2971800"/>
            <a:ext cx="4114800" cy="640080"/>
          </a:xfrm>
          <a:prstGeom prst="roundRect">
            <a:avLst>
              <a:gd name="adj" fmla="val 5714"/>
            </a:avLst>
          </a:prstGeom>
          <a:solidFill>
            <a:srgbClr val="EBF8FF"/>
          </a:solidFill>
        </p:spPr>
      </p:sp>
      <p:sp>
        <p:nvSpPr>
          <p:cNvPr id="14" name="Text 12"/>
          <p:cNvSpPr/>
          <p:nvPr/>
        </p:nvSpPr>
        <p:spPr>
          <a:xfrm>
            <a:off x="457200" y="3136392"/>
            <a:ext cx="914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6C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4.3.1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3136392"/>
            <a:ext cx="2834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Problemas con líneas de espera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9160" y="640080"/>
            <a:ext cx="4114800" cy="640080"/>
          </a:xfrm>
          <a:prstGeom prst="roundRect">
            <a:avLst>
              <a:gd name="adj" fmla="val 5714"/>
            </a:avLst>
          </a:prstGeom>
          <a:solidFill>
            <a:srgbClr val="EBF8FF"/>
          </a:solidFill>
        </p:spPr>
      </p:sp>
      <p:sp>
        <p:nvSpPr>
          <p:cNvPr id="17" name="Text 15"/>
          <p:cNvSpPr/>
          <p:nvPr/>
        </p:nvSpPr>
        <p:spPr>
          <a:xfrm>
            <a:off x="4846320" y="804672"/>
            <a:ext cx="914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6C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4.3.2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806440" y="804672"/>
            <a:ext cx="2834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Problemas con sistemas de inventarios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09160" y="1417320"/>
            <a:ext cx="4114800" cy="640080"/>
          </a:xfrm>
          <a:prstGeom prst="roundRect">
            <a:avLst>
              <a:gd name="adj" fmla="val 5714"/>
            </a:avLst>
          </a:prstGeom>
          <a:solidFill>
            <a:srgbClr val="EBF8FF"/>
          </a:solidFill>
        </p:spPr>
      </p:sp>
      <p:sp>
        <p:nvSpPr>
          <p:cNvPr id="20" name="Text 18"/>
          <p:cNvSpPr/>
          <p:nvPr/>
        </p:nvSpPr>
        <p:spPr>
          <a:xfrm>
            <a:off x="4846320" y="1581912"/>
            <a:ext cx="914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6C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6440" y="1581912"/>
            <a:ext cx="2834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Validación de un simulador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09160" y="2194560"/>
            <a:ext cx="4114800" cy="640080"/>
          </a:xfrm>
          <a:prstGeom prst="roundRect">
            <a:avLst>
              <a:gd name="adj" fmla="val 5714"/>
            </a:avLst>
          </a:prstGeom>
          <a:solidFill>
            <a:srgbClr val="EBF8FF"/>
          </a:solidFill>
        </p:spPr>
      </p:sp>
      <p:sp>
        <p:nvSpPr>
          <p:cNvPr id="23" name="Text 21"/>
          <p:cNvSpPr/>
          <p:nvPr/>
        </p:nvSpPr>
        <p:spPr>
          <a:xfrm>
            <a:off x="4846320" y="2359152"/>
            <a:ext cx="914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6C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4.4.1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806440" y="2359152"/>
            <a:ext cx="2834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Pruebas paramétricas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09160" y="2971800"/>
            <a:ext cx="4114800" cy="640080"/>
          </a:xfrm>
          <a:prstGeom prst="roundRect">
            <a:avLst>
              <a:gd name="adj" fmla="val 5714"/>
            </a:avLst>
          </a:prstGeom>
          <a:solidFill>
            <a:srgbClr val="EBF8FF"/>
          </a:solidFill>
        </p:spPr>
      </p:sp>
      <p:sp>
        <p:nvSpPr>
          <p:cNvPr id="26" name="Text 24"/>
          <p:cNvSpPr/>
          <p:nvPr/>
        </p:nvSpPr>
        <p:spPr>
          <a:xfrm>
            <a:off x="4846320" y="3136392"/>
            <a:ext cx="914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6C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4.4.2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806440" y="3136392"/>
            <a:ext cx="2834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Pruebas no paramétricas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28600" y="4773168"/>
            <a:ext cx="80467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José Ángel Gómez Rincón | 241260049 | Tema 4 · Actividad 4.2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366760" y="4773168"/>
            <a:ext cx="457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8A169"/>
          </a:solidFill>
        </p:spPr>
      </p:sp>
      <p:sp>
        <p:nvSpPr>
          <p:cNvPr id="3" name="Text 1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EJEMPLO 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INVENTARIO (Q, R) — Forrajería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776AB"/>
          </a:solidFill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inventario_alimento_ganado_grafico.py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228600" y="64008"/>
            <a:ext cx="5212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Importaciones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532120" y="54864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38A169"/>
          </a:solidFill>
        </p:spPr>
      </p:sp>
      <p:sp>
        <p:nvSpPr>
          <p:cNvPr id="5" name="Text 3"/>
          <p:cNvSpPr/>
          <p:nvPr/>
        </p:nvSpPr>
        <p:spPr>
          <a:xfrm>
            <a:off x="5532120" y="73152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Inventario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269480" y="54864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3776AB"/>
          </a:solidFill>
        </p:spPr>
      </p:sp>
      <p:sp>
        <p:nvSpPr>
          <p:cNvPr id="7" name="Text 5"/>
          <p:cNvSpPr/>
          <p:nvPr/>
        </p:nvSpPr>
        <p:spPr>
          <a:xfrm>
            <a:off x="7269480" y="73152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475488"/>
            <a:ext cx="8686800" cy="274320"/>
          </a:xfrm>
          <a:prstGeom prst="roundRect">
            <a:avLst>
              <a:gd name="adj" fmla="val 13333"/>
            </a:avLst>
          </a:prstGeom>
          <a:solidFill>
            <a:srgbClr val="2B6CB0"/>
          </a:solidFill>
        </p:spPr>
      </p:sp>
      <p:sp>
        <p:nvSpPr>
          <p:cNvPr id="9" name="Text 7"/>
          <p:cNvSpPr/>
          <p:nvPr/>
        </p:nvSpPr>
        <p:spPr>
          <a:xfrm>
            <a:off x="365760" y="502920"/>
            <a:ext cx="84124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📄 inventario_alimento_ganado_grafico.py   ·   Líneas 20 – 24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841248"/>
            <a:ext cx="8686800" cy="987552"/>
          </a:xfrm>
          <a:prstGeom prst="roundRect">
            <a:avLst>
              <a:gd name="adj" fmla="val 3704"/>
            </a:avLst>
          </a:prstGeom>
          <a:solidFill>
            <a:srgbClr val="F0FFF4"/>
          </a:solidFill>
        </p:spPr>
      </p:sp>
      <p:sp>
        <p:nvSpPr>
          <p:cNvPr id="11" name="Text 9"/>
          <p:cNvSpPr/>
          <p:nvPr/>
        </p:nvSpPr>
        <p:spPr>
          <a:xfrm>
            <a:off x="365760" y="886968"/>
            <a:ext cx="84124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import math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import random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import time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import tkinter as tk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from tkinter import ttk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" y="4091940"/>
            <a:ext cx="8595360" cy="68135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math: funciones numéricas (ceil, etc.). random: generador R~U(0,1). time: control del reloj de animación. tkinter/ttk: interfaz gráfica, pestañas Notebook, canvas y controles. Relación Tema 4: 4.1–4.2 (herramientas del lenguaje que construyen el simulador).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600" y="4773168"/>
            <a:ext cx="80467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José Ángel Gómez Rincón | 241260049 | Tema 4 · Actividad 4.2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366760" y="4773168"/>
            <a:ext cx="457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900" dirty="0"/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7965" y="845820"/>
            <a:ext cx="8687435" cy="32670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228600" y="64008"/>
            <a:ext cx="5212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Parámetros del modelo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532120" y="54864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38A169"/>
          </a:solidFill>
        </p:spPr>
      </p:sp>
      <p:sp>
        <p:nvSpPr>
          <p:cNvPr id="5" name="Text 3"/>
          <p:cNvSpPr/>
          <p:nvPr/>
        </p:nvSpPr>
        <p:spPr>
          <a:xfrm>
            <a:off x="5532120" y="73152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Inventario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269480" y="54864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3776AB"/>
          </a:solidFill>
        </p:spPr>
      </p:sp>
      <p:sp>
        <p:nvSpPr>
          <p:cNvPr id="7" name="Text 5"/>
          <p:cNvSpPr/>
          <p:nvPr/>
        </p:nvSpPr>
        <p:spPr>
          <a:xfrm>
            <a:off x="7269480" y="73152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475488"/>
            <a:ext cx="8686800" cy="274320"/>
          </a:xfrm>
          <a:prstGeom prst="roundRect">
            <a:avLst>
              <a:gd name="adj" fmla="val 13333"/>
            </a:avLst>
          </a:prstGeom>
          <a:solidFill>
            <a:srgbClr val="2B6CB0"/>
          </a:solidFill>
        </p:spPr>
      </p:sp>
      <p:sp>
        <p:nvSpPr>
          <p:cNvPr id="9" name="Text 7"/>
          <p:cNvSpPr/>
          <p:nvPr/>
        </p:nvSpPr>
        <p:spPr>
          <a:xfrm>
            <a:off x="365760" y="502920"/>
            <a:ext cx="84124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📄 inventario_alimento_ganado_grafico.py   ·   Líneas 26 – 45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841248"/>
            <a:ext cx="8686800" cy="822960"/>
          </a:xfrm>
          <a:prstGeom prst="roundRect">
            <a:avLst>
              <a:gd name="adj" fmla="val 4444"/>
            </a:avLst>
          </a:prstGeom>
          <a:solidFill>
            <a:srgbClr val="F0FFF4"/>
          </a:solidFill>
        </p:spPr>
      </p:sp>
      <p:sp>
        <p:nvSpPr>
          <p:cNvPr id="11" name="Text 9"/>
          <p:cNvSpPr/>
          <p:nvPr/>
        </p:nvSpPr>
        <p:spPr>
          <a:xfrm>
            <a:off x="365760" y="886968"/>
            <a:ext cx="841248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TITULO, DEM_VALORES, DEM_PROBS, LT_VALORES, LT_PROBS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COSTO_PEDIDO=100, COSTO_MANTENER=0.10, COSTO_FALTANTE=5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DIAS=365, INV_INICIAL=60, REPLICAS=30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Q_OPCIONES=[100,150,200,250], R_OPCIONES=[40,50,60,70,80]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2880" y="4361815"/>
            <a:ext cx="85953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Define demanda discreta, lead time, costos, horizonte, inventario inicial y malla de políticas. Relación: 4.3.2 (sistema de inventarios con política Q,R).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600" y="4773168"/>
            <a:ext cx="80467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José Ángel Gómez Rincón | 241260049 | Tema 4 · Actividad 4.2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366760" y="4773168"/>
            <a:ext cx="457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900" dirty="0"/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840105"/>
            <a:ext cx="8727440" cy="35458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228600" y="64008"/>
            <a:ext cx="5212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discreta() — transformada inversa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532120" y="54864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38A169"/>
          </a:solidFill>
        </p:spPr>
      </p:sp>
      <p:sp>
        <p:nvSpPr>
          <p:cNvPr id="5" name="Text 3"/>
          <p:cNvSpPr/>
          <p:nvPr/>
        </p:nvSpPr>
        <p:spPr>
          <a:xfrm>
            <a:off x="5532120" y="73152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Inventario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269480" y="54864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3776AB"/>
          </a:solidFill>
        </p:spPr>
      </p:sp>
      <p:sp>
        <p:nvSpPr>
          <p:cNvPr id="7" name="Text 5"/>
          <p:cNvSpPr/>
          <p:nvPr/>
        </p:nvSpPr>
        <p:spPr>
          <a:xfrm>
            <a:off x="7269480" y="73152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475488"/>
            <a:ext cx="8686800" cy="274320"/>
          </a:xfrm>
          <a:prstGeom prst="roundRect">
            <a:avLst>
              <a:gd name="adj" fmla="val 13333"/>
            </a:avLst>
          </a:prstGeom>
          <a:solidFill>
            <a:srgbClr val="2B6CB0"/>
          </a:solidFill>
        </p:spPr>
      </p:sp>
      <p:sp>
        <p:nvSpPr>
          <p:cNvPr id="9" name="Text 7"/>
          <p:cNvSpPr/>
          <p:nvPr/>
        </p:nvSpPr>
        <p:spPr>
          <a:xfrm>
            <a:off x="365760" y="502920"/>
            <a:ext cx="84124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📄 inventario_alimento_ganado_grafico.py   ·   Líneas 47 – 57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841248"/>
            <a:ext cx="8686800" cy="1316736"/>
          </a:xfrm>
          <a:prstGeom prst="roundRect">
            <a:avLst>
              <a:gd name="adj" fmla="val 2778"/>
            </a:avLst>
          </a:prstGeom>
          <a:solidFill>
            <a:srgbClr val="F0FFF4"/>
          </a:solidFill>
        </p:spPr>
      </p:sp>
      <p:sp>
        <p:nvSpPr>
          <p:cNvPr id="11" name="Text 9"/>
          <p:cNvSpPr/>
          <p:nvPr/>
        </p:nvSpPr>
        <p:spPr>
          <a:xfrm>
            <a:off x="365760" y="886968"/>
            <a:ext cx="8412480" cy="12435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def discreta(valores, probs):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u = random.random()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acum = 0.0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for v, p in zip(valores, probs):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acum += 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if u &lt; acum: return v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return valores[-1]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28600" y="4241165"/>
            <a:ext cx="8595360" cy="4800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 demanda y lead time discretos comparando R con la CDF acumulada. Relación: generador de VA del Tema 3 usado dentro del simulador (4.1) para el caso 4.3.2.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600" y="4773168"/>
            <a:ext cx="80467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José Ángel Gómez Rincón | 241260049 | Tema 4 · Actividad 4.2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366760" y="4773168"/>
            <a:ext cx="457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900" dirty="0"/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814070"/>
            <a:ext cx="8686800" cy="337629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228600" y="64008"/>
            <a:ext cx="5212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Utilidades de color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532120" y="54864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38A169"/>
          </a:solidFill>
        </p:spPr>
      </p:sp>
      <p:sp>
        <p:nvSpPr>
          <p:cNvPr id="5" name="Text 3"/>
          <p:cNvSpPr/>
          <p:nvPr/>
        </p:nvSpPr>
        <p:spPr>
          <a:xfrm>
            <a:off x="5532120" y="73152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Inventario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269480" y="54864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3776AB"/>
          </a:solidFill>
        </p:spPr>
      </p:sp>
      <p:sp>
        <p:nvSpPr>
          <p:cNvPr id="7" name="Text 5"/>
          <p:cNvSpPr/>
          <p:nvPr/>
        </p:nvSpPr>
        <p:spPr>
          <a:xfrm>
            <a:off x="7269480" y="73152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475488"/>
            <a:ext cx="8686800" cy="274320"/>
          </a:xfrm>
          <a:prstGeom prst="roundRect">
            <a:avLst>
              <a:gd name="adj" fmla="val 13333"/>
            </a:avLst>
          </a:prstGeom>
          <a:solidFill>
            <a:srgbClr val="2B6CB0"/>
          </a:solidFill>
        </p:spPr>
      </p:sp>
      <p:sp>
        <p:nvSpPr>
          <p:cNvPr id="9" name="Text 7"/>
          <p:cNvSpPr/>
          <p:nvPr/>
        </p:nvSpPr>
        <p:spPr>
          <a:xfrm>
            <a:off x="365760" y="502920"/>
            <a:ext cx="84124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📄 inventario_alimento_ganado_grafico.py   ·   Líneas 59 – 85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841248"/>
            <a:ext cx="8686800" cy="987552"/>
          </a:xfrm>
          <a:prstGeom prst="roundRect">
            <a:avLst>
              <a:gd name="adj" fmla="val 3704"/>
            </a:avLst>
          </a:prstGeom>
          <a:solidFill>
            <a:srgbClr val="F0FFF4"/>
          </a:solidFill>
        </p:spPr>
      </p:sp>
      <p:sp>
        <p:nvSpPr>
          <p:cNvPr id="11" name="Text 9"/>
          <p:cNvSpPr/>
          <p:nvPr/>
        </p:nvSpPr>
        <p:spPr>
          <a:xfrm>
            <a:off x="365760" y="886968"/>
            <a:ext cx="84124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def a_rgb(color): ...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def a_hex(r, g, b): ...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def mezclar(c1, c2, f): ...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def escalar(color, factor): ...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VERDE, ROJO, NARANJA, AZUL, ORO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28600" y="4361815"/>
            <a:ext cx="85953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Conversión y mezcla de colores para la bodega, el camión y las barras 3D. Relación: 4.2 (capa visual del simulador).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600" y="4773168"/>
            <a:ext cx="80467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José Ángel Gómez Rincón | 241260049 | Tema 4 · Actividad 4.2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366760" y="4773168"/>
            <a:ext cx="457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900" dirty="0"/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838200"/>
            <a:ext cx="8687435" cy="354520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228600" y="64008"/>
            <a:ext cx="5212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Clase Anio — estado y reinicio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532120" y="54864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38A169"/>
          </a:solidFill>
        </p:spPr>
      </p:sp>
      <p:sp>
        <p:nvSpPr>
          <p:cNvPr id="5" name="Text 3"/>
          <p:cNvSpPr/>
          <p:nvPr/>
        </p:nvSpPr>
        <p:spPr>
          <a:xfrm>
            <a:off x="5532120" y="73152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Inventario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269480" y="54864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3776AB"/>
          </a:solidFill>
        </p:spPr>
      </p:sp>
      <p:sp>
        <p:nvSpPr>
          <p:cNvPr id="7" name="Text 5"/>
          <p:cNvSpPr/>
          <p:nvPr/>
        </p:nvSpPr>
        <p:spPr>
          <a:xfrm>
            <a:off x="7269480" y="73152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475488"/>
            <a:ext cx="8686800" cy="274320"/>
          </a:xfrm>
          <a:prstGeom prst="roundRect">
            <a:avLst>
              <a:gd name="adj" fmla="val 13333"/>
            </a:avLst>
          </a:prstGeom>
          <a:solidFill>
            <a:srgbClr val="2B6CB0"/>
          </a:solidFill>
        </p:spPr>
      </p:sp>
      <p:sp>
        <p:nvSpPr>
          <p:cNvPr id="9" name="Text 7"/>
          <p:cNvSpPr/>
          <p:nvPr/>
        </p:nvSpPr>
        <p:spPr>
          <a:xfrm>
            <a:off x="365760" y="502920"/>
            <a:ext cx="84124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📄 inventario_alimento_ganado_grafico.py   ·   Líneas 87 – 105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841248"/>
            <a:ext cx="8686800" cy="987552"/>
          </a:xfrm>
          <a:prstGeom prst="roundRect">
            <a:avLst>
              <a:gd name="adj" fmla="val 3704"/>
            </a:avLst>
          </a:prstGeom>
          <a:solidFill>
            <a:srgbClr val="F0FFF4"/>
          </a:solidFill>
        </p:spPr>
      </p:sp>
      <p:sp>
        <p:nvSpPr>
          <p:cNvPr id="11" name="Text 9"/>
          <p:cNvSpPr/>
          <p:nvPr/>
        </p:nvSpPr>
        <p:spPr>
          <a:xfrm>
            <a:off x="365760" y="886968"/>
            <a:ext cx="84124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class Anio: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def __init__(self, Q, R): ...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def reiniciar(self):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self.dia=0; self.inv=INV_INICIAL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self.pendiente=False; self.c_ped=...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" y="4350385"/>
            <a:ext cx="8595360" cy="41211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Encapsula el estado de un año (inventario, pedido pendiente, costos, historial). Relación: 4.1 (entidad del modelo dentro del simulador).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600" y="4773168"/>
            <a:ext cx="80467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José Ángel Gómez Rincón | 241260049 | Tema 4 · Actividad 4.2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366760" y="4773168"/>
            <a:ext cx="457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900" dirty="0"/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814070"/>
            <a:ext cx="8686165" cy="36042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228600" y="64008"/>
            <a:ext cx="5212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Anio.paso() — un día de simulación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532120" y="54864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38A169"/>
          </a:solidFill>
        </p:spPr>
      </p:sp>
      <p:sp>
        <p:nvSpPr>
          <p:cNvPr id="5" name="Text 3"/>
          <p:cNvSpPr/>
          <p:nvPr/>
        </p:nvSpPr>
        <p:spPr>
          <a:xfrm>
            <a:off x="5532120" y="73152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Inventario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269480" y="54864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3776AB"/>
          </a:solidFill>
        </p:spPr>
      </p:sp>
      <p:sp>
        <p:nvSpPr>
          <p:cNvPr id="7" name="Text 5"/>
          <p:cNvSpPr/>
          <p:nvPr/>
        </p:nvSpPr>
        <p:spPr>
          <a:xfrm>
            <a:off x="7269480" y="73152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475488"/>
            <a:ext cx="8686800" cy="274320"/>
          </a:xfrm>
          <a:prstGeom prst="roundRect">
            <a:avLst>
              <a:gd name="adj" fmla="val 13333"/>
            </a:avLst>
          </a:prstGeom>
          <a:solidFill>
            <a:srgbClr val="2B6CB0"/>
          </a:solidFill>
        </p:spPr>
      </p:sp>
      <p:sp>
        <p:nvSpPr>
          <p:cNvPr id="9" name="Text 7"/>
          <p:cNvSpPr/>
          <p:nvPr/>
        </p:nvSpPr>
        <p:spPr>
          <a:xfrm>
            <a:off x="365760" y="502920"/>
            <a:ext cx="84124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📄 inventario_alimento_ganado_grafico.py   ·   Líneas 107 – 143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841248"/>
            <a:ext cx="8686800" cy="987552"/>
          </a:xfrm>
          <a:prstGeom prst="roundRect">
            <a:avLst>
              <a:gd name="adj" fmla="val 3704"/>
            </a:avLst>
          </a:prstGeom>
          <a:solidFill>
            <a:srgbClr val="F0FFF4"/>
          </a:solidFill>
        </p:spPr>
      </p:sp>
      <p:sp>
        <p:nvSpPr>
          <p:cNvPr id="11" name="Text 9"/>
          <p:cNvSpPr/>
          <p:nvPr/>
        </p:nvSpPr>
        <p:spPr>
          <a:xfrm>
            <a:off x="365760" y="886968"/>
            <a:ext cx="84124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def paso(self, guardar=True):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# 1) llega el pedido si toca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# 2) demanda del día (discreta)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# 3) venta / faltante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# 4) costo mantener + política (Q,R)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0040" y="4359910"/>
            <a:ext cx="85953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Motor diario: llegada de Q, demanda, venta perdida, costo de mantener, y si inv≤R y no hay pedido se ordena Q. Relación: 4.3.2 (política de reorden) y 4.2 (avance del reloj de simulación).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600" y="4773168"/>
            <a:ext cx="80467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José Ángel Gómez Rincón | 241260049 | Tema 4 · Actividad 4.2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366760" y="4773168"/>
            <a:ext cx="457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900" dirty="0"/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773430"/>
            <a:ext cx="8686165" cy="356552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228600" y="64008"/>
            <a:ext cx="5212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promedio() — réplicas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532120" y="54864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38A169"/>
          </a:solidFill>
        </p:spPr>
      </p:sp>
      <p:sp>
        <p:nvSpPr>
          <p:cNvPr id="5" name="Text 3"/>
          <p:cNvSpPr/>
          <p:nvPr/>
        </p:nvSpPr>
        <p:spPr>
          <a:xfrm>
            <a:off x="5532120" y="73152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Inventario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269480" y="54864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3776AB"/>
          </a:solidFill>
        </p:spPr>
      </p:sp>
      <p:sp>
        <p:nvSpPr>
          <p:cNvPr id="7" name="Text 5"/>
          <p:cNvSpPr/>
          <p:nvPr/>
        </p:nvSpPr>
        <p:spPr>
          <a:xfrm>
            <a:off x="7269480" y="73152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475488"/>
            <a:ext cx="8686800" cy="274320"/>
          </a:xfrm>
          <a:prstGeom prst="roundRect">
            <a:avLst>
              <a:gd name="adj" fmla="val 13333"/>
            </a:avLst>
          </a:prstGeom>
          <a:solidFill>
            <a:srgbClr val="2B6CB0"/>
          </a:solidFill>
        </p:spPr>
      </p:sp>
      <p:sp>
        <p:nvSpPr>
          <p:cNvPr id="9" name="Text 7"/>
          <p:cNvSpPr/>
          <p:nvPr/>
        </p:nvSpPr>
        <p:spPr>
          <a:xfrm>
            <a:off x="365760" y="502920"/>
            <a:ext cx="84124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📄 inventario_alimento_ganado_grafico.py   ·   Líneas 145 – 161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841248"/>
            <a:ext cx="8686800" cy="987552"/>
          </a:xfrm>
          <a:prstGeom prst="roundRect">
            <a:avLst>
              <a:gd name="adj" fmla="val 3704"/>
            </a:avLst>
          </a:prstGeom>
          <a:solidFill>
            <a:srgbClr val="F0FFF4"/>
          </a:solidFill>
        </p:spPr>
      </p:sp>
      <p:sp>
        <p:nvSpPr>
          <p:cNvPr id="11" name="Text 9"/>
          <p:cNvSpPr/>
          <p:nvPr/>
        </p:nvSpPr>
        <p:spPr>
          <a:xfrm>
            <a:off x="365760" y="886968"/>
            <a:ext cx="84124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def promedio(Q, R):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for _ in range(REPLICAS):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a = Anio(Q, R)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for _ in range(DIAS): a.paso(False)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return {costo, pedidos, perdidas, ...}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" y="4361815"/>
            <a:ext cx="85953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 réplicas de 365 días por política; promedia costo total y desglose. Relación: 4.4 (experimentación repetida para validar/estabilizar el estimador).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600" y="4773168"/>
            <a:ext cx="80467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José Ángel Gómez Rincón | 241260049 | Tema 4 · Actividad 4.2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366760" y="4773168"/>
            <a:ext cx="457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</a:t>
            </a:r>
            <a:endParaRPr lang="en-US" sz="900" dirty="0"/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460" y="840740"/>
            <a:ext cx="8618220" cy="352107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228600" y="64008"/>
            <a:ext cx="5212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App.__init__ y pestañas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532120" y="54864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38A169"/>
          </a:solidFill>
        </p:spPr>
      </p:sp>
      <p:sp>
        <p:nvSpPr>
          <p:cNvPr id="5" name="Text 3"/>
          <p:cNvSpPr/>
          <p:nvPr/>
        </p:nvSpPr>
        <p:spPr>
          <a:xfrm>
            <a:off x="5532120" y="73152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Inventario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269480" y="54864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3776AB"/>
          </a:solidFill>
        </p:spPr>
      </p:sp>
      <p:sp>
        <p:nvSpPr>
          <p:cNvPr id="7" name="Text 5"/>
          <p:cNvSpPr/>
          <p:nvPr/>
        </p:nvSpPr>
        <p:spPr>
          <a:xfrm>
            <a:off x="7269480" y="73152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475488"/>
            <a:ext cx="8686800" cy="274320"/>
          </a:xfrm>
          <a:prstGeom prst="roundRect">
            <a:avLst>
              <a:gd name="adj" fmla="val 13333"/>
            </a:avLst>
          </a:prstGeom>
          <a:solidFill>
            <a:srgbClr val="2B6CB0"/>
          </a:solidFill>
        </p:spPr>
      </p:sp>
      <p:sp>
        <p:nvSpPr>
          <p:cNvPr id="9" name="Text 7"/>
          <p:cNvSpPr/>
          <p:nvPr/>
        </p:nvSpPr>
        <p:spPr>
          <a:xfrm>
            <a:off x="365760" y="502920"/>
            <a:ext cx="84124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📄 inventario_alimento_ganado_grafico.py   ·   Líneas 163 – 193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841248"/>
            <a:ext cx="8686800" cy="987552"/>
          </a:xfrm>
          <a:prstGeom prst="roundRect">
            <a:avLst>
              <a:gd name="adj" fmla="val 3704"/>
            </a:avLst>
          </a:prstGeom>
          <a:solidFill>
            <a:srgbClr val="F0FFF4"/>
          </a:solidFill>
        </p:spPr>
      </p:sp>
      <p:sp>
        <p:nvSpPr>
          <p:cNvPr id="11" name="Text 9"/>
          <p:cNvSpPr/>
          <p:nvPr/>
        </p:nvSpPr>
        <p:spPr>
          <a:xfrm>
            <a:off x="365760" y="886968"/>
            <a:ext cx="84124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class App: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def __init__(self, raiz):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self.nb = ttk.Notebook(raiz)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tab1 = Simulación animada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tab2 = Optimización 3D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28600" y="4479925"/>
            <a:ext cx="8595360" cy="29337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Construye la ventana con dos pestañas: animación de un año y malla de costos 3D. Relación: 4.1–4.2 (interfaz del simulador).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600" y="4773168"/>
            <a:ext cx="80467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José Ángel Gómez Rincón | 241260049 | Tema 4 · Actividad 4.2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366760" y="4773168"/>
            <a:ext cx="457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</a:t>
            </a:r>
            <a:endParaRPr lang="en-US" sz="900" dirty="0"/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852805"/>
            <a:ext cx="8686800" cy="36271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228600" y="64008"/>
            <a:ext cx="5212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construir_tab1 y controles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532120" y="54864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38A169"/>
          </a:solidFill>
        </p:spPr>
      </p:sp>
      <p:sp>
        <p:nvSpPr>
          <p:cNvPr id="5" name="Text 3"/>
          <p:cNvSpPr/>
          <p:nvPr/>
        </p:nvSpPr>
        <p:spPr>
          <a:xfrm>
            <a:off x="5532120" y="73152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Inventario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269480" y="54864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3776AB"/>
          </a:solidFill>
        </p:spPr>
      </p:sp>
      <p:sp>
        <p:nvSpPr>
          <p:cNvPr id="7" name="Text 5"/>
          <p:cNvSpPr/>
          <p:nvPr/>
        </p:nvSpPr>
        <p:spPr>
          <a:xfrm>
            <a:off x="7269480" y="73152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475488"/>
            <a:ext cx="8686800" cy="274320"/>
          </a:xfrm>
          <a:prstGeom prst="roundRect">
            <a:avLst>
              <a:gd name="adj" fmla="val 13333"/>
            </a:avLst>
          </a:prstGeom>
          <a:solidFill>
            <a:srgbClr val="2B6CB0"/>
          </a:solidFill>
        </p:spPr>
      </p:sp>
      <p:sp>
        <p:nvSpPr>
          <p:cNvPr id="9" name="Text 7"/>
          <p:cNvSpPr/>
          <p:nvPr/>
        </p:nvSpPr>
        <p:spPr>
          <a:xfrm>
            <a:off x="365760" y="502920"/>
            <a:ext cx="84124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📄 inventario_alimento_ganado_grafico.py   ·   Líneas 194 – 255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841248"/>
            <a:ext cx="8686800" cy="822960"/>
          </a:xfrm>
          <a:prstGeom prst="roundRect">
            <a:avLst>
              <a:gd name="adj" fmla="val 4444"/>
            </a:avLst>
          </a:prstGeom>
          <a:solidFill>
            <a:srgbClr val="F0FFF4"/>
          </a:solidFill>
        </p:spPr>
      </p:sp>
      <p:sp>
        <p:nvSpPr>
          <p:cNvPr id="11" name="Text 9"/>
          <p:cNvSpPr/>
          <p:nvPr/>
        </p:nvSpPr>
        <p:spPr>
          <a:xfrm>
            <a:off x="365760" y="886968"/>
            <a:ext cx="841248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def construir_tab1(self):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botones Iniciar/Reiniciar/Año completo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Spinbox Q y R, Scale velocidad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Canvas 1000x410 + Label de costos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" y="4499610"/>
            <a:ext cx="8595360" cy="27368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Barra de control y lienzo de la animación. Relación: 4.2 (uso interactivo del simulador: cambiar Q,R, velocidad).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600" y="4773168"/>
            <a:ext cx="80467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José Ángel Gómez Rincón | 241260049 | Tema 4 · Actividad 4.2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366760" y="4773168"/>
            <a:ext cx="457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</a:t>
            </a:r>
            <a:endParaRPr lang="en-US" sz="900" dirty="0"/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833755"/>
            <a:ext cx="8667750" cy="366331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228600" y="64008"/>
            <a:ext cx="5212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dibujar1 — bodega, camión, gráfica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532120" y="54864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38A169"/>
          </a:solidFill>
        </p:spPr>
      </p:sp>
      <p:sp>
        <p:nvSpPr>
          <p:cNvPr id="5" name="Text 3"/>
          <p:cNvSpPr/>
          <p:nvPr/>
        </p:nvSpPr>
        <p:spPr>
          <a:xfrm>
            <a:off x="5532120" y="73152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Inventario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269480" y="54864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3776AB"/>
          </a:solidFill>
        </p:spPr>
      </p:sp>
      <p:sp>
        <p:nvSpPr>
          <p:cNvPr id="7" name="Text 5"/>
          <p:cNvSpPr/>
          <p:nvPr/>
        </p:nvSpPr>
        <p:spPr>
          <a:xfrm>
            <a:off x="7269480" y="73152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475488"/>
            <a:ext cx="8686800" cy="274320"/>
          </a:xfrm>
          <a:prstGeom prst="roundRect">
            <a:avLst>
              <a:gd name="adj" fmla="val 13333"/>
            </a:avLst>
          </a:prstGeom>
          <a:solidFill>
            <a:srgbClr val="2B6CB0"/>
          </a:solidFill>
        </p:spPr>
      </p:sp>
      <p:sp>
        <p:nvSpPr>
          <p:cNvPr id="9" name="Text 7"/>
          <p:cNvSpPr/>
          <p:nvPr/>
        </p:nvSpPr>
        <p:spPr>
          <a:xfrm>
            <a:off x="365760" y="502920"/>
            <a:ext cx="84124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📄 inventario_alimento_ganado_grafico.py   ·   Líneas 272 – 360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841248"/>
            <a:ext cx="8686800" cy="987552"/>
          </a:xfrm>
          <a:prstGeom prst="roundRect">
            <a:avLst>
              <a:gd name="adj" fmla="val 3704"/>
            </a:avLst>
          </a:prstGeom>
          <a:solidFill>
            <a:srgbClr val="F0FFF4"/>
          </a:solidFill>
        </p:spPr>
      </p:sp>
      <p:sp>
        <p:nvSpPr>
          <p:cNvPr id="11" name="Text 9"/>
          <p:cNvSpPr/>
          <p:nvPr/>
        </p:nvSpPr>
        <p:spPr>
          <a:xfrm>
            <a:off x="365760" y="886968"/>
            <a:ext cx="84124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def dibujar1(self):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caja3d (bodega), camión si pedido pendiente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serie temporal de inventario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marcas de pedido/llegada/faltante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panel de costos acumulados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28600" y="4362450"/>
            <a:ext cx="8595360" cy="41084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Renderiza el estado del día: nivel de bodega, camión en tránsito, gráfica y costos. Relación: 4.2 (visualización de resultados sin afectar el sistema real).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600" y="4773168"/>
            <a:ext cx="80467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José Ángel Gómez Rincón | 241260049 | Tema 4 · Actividad 4.2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366760" y="4773168"/>
            <a:ext cx="457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</a:t>
            </a:r>
            <a:endParaRPr lang="en-US" sz="900" dirty="0"/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850900"/>
            <a:ext cx="8662670" cy="35179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228600" y="64008"/>
            <a:ext cx="5212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construir_tab2 y malla 3D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532120" y="54864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38A169"/>
          </a:solidFill>
        </p:spPr>
      </p:sp>
      <p:sp>
        <p:nvSpPr>
          <p:cNvPr id="5" name="Text 3"/>
          <p:cNvSpPr/>
          <p:nvPr/>
        </p:nvSpPr>
        <p:spPr>
          <a:xfrm>
            <a:off x="5532120" y="73152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Inventario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269480" y="54864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3776AB"/>
          </a:solidFill>
        </p:spPr>
      </p:sp>
      <p:sp>
        <p:nvSpPr>
          <p:cNvPr id="7" name="Text 5"/>
          <p:cNvSpPr/>
          <p:nvPr/>
        </p:nvSpPr>
        <p:spPr>
          <a:xfrm>
            <a:off x="7269480" y="73152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475488"/>
            <a:ext cx="8686800" cy="274320"/>
          </a:xfrm>
          <a:prstGeom prst="roundRect">
            <a:avLst>
              <a:gd name="adj" fmla="val 13333"/>
            </a:avLst>
          </a:prstGeom>
          <a:solidFill>
            <a:srgbClr val="2B6CB0"/>
          </a:solidFill>
        </p:spPr>
      </p:sp>
      <p:sp>
        <p:nvSpPr>
          <p:cNvPr id="9" name="Text 7"/>
          <p:cNvSpPr/>
          <p:nvPr/>
        </p:nvSpPr>
        <p:spPr>
          <a:xfrm>
            <a:off x="365760" y="502920"/>
            <a:ext cx="84124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📄 inventario_alimento_ganado_grafico.py   ·   Líneas 362 – 532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841248"/>
            <a:ext cx="8686800" cy="822960"/>
          </a:xfrm>
          <a:prstGeom prst="roundRect">
            <a:avLst>
              <a:gd name="adj" fmla="val 4444"/>
            </a:avLst>
          </a:prstGeom>
          <a:solidFill>
            <a:srgbClr val="F0FFF4"/>
          </a:solidFill>
        </p:spPr>
      </p:sp>
      <p:sp>
        <p:nvSpPr>
          <p:cNvPr id="11" name="Text 9"/>
          <p:cNvSpPr/>
          <p:nvPr/>
        </p:nvSpPr>
        <p:spPr>
          <a:xfrm>
            <a:off x="365760" y="886968"/>
            <a:ext cx="841248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def construir_tab2 / calcular_malla / dibujar2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barras 3D por cada (Q,R)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rotación mouse, zoom rueda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barra dorada = menor costo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" y="4499610"/>
            <a:ext cx="8595360" cy="27368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Explora todas las políticas y destaca el óptimo. Relación: 4.2 (análisis) y 4.4 (comparación de escenarios).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600" y="4773168"/>
            <a:ext cx="80467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José Ángel Gómez Rincón | 241260049 | Tema 4 · Actividad 4.2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366760" y="4773168"/>
            <a:ext cx="457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</a:t>
            </a:r>
            <a:endParaRPr lang="en-US" sz="900" dirty="0"/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4635" y="843915"/>
            <a:ext cx="8640445" cy="365315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228600" y="64008"/>
            <a:ext cx="5212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tick() y main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532120" y="54864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38A169"/>
          </a:solidFill>
        </p:spPr>
      </p:sp>
      <p:sp>
        <p:nvSpPr>
          <p:cNvPr id="5" name="Text 3"/>
          <p:cNvSpPr/>
          <p:nvPr/>
        </p:nvSpPr>
        <p:spPr>
          <a:xfrm>
            <a:off x="5532120" y="73152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Inventario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269480" y="54864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3776AB"/>
          </a:solidFill>
        </p:spPr>
      </p:sp>
      <p:sp>
        <p:nvSpPr>
          <p:cNvPr id="7" name="Text 5"/>
          <p:cNvSpPr/>
          <p:nvPr/>
        </p:nvSpPr>
        <p:spPr>
          <a:xfrm>
            <a:off x="7269480" y="73152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475488"/>
            <a:ext cx="8686800" cy="274320"/>
          </a:xfrm>
          <a:prstGeom prst="roundRect">
            <a:avLst>
              <a:gd name="adj" fmla="val 13333"/>
            </a:avLst>
          </a:prstGeom>
          <a:solidFill>
            <a:srgbClr val="2B6CB0"/>
          </a:solidFill>
        </p:spPr>
      </p:sp>
      <p:sp>
        <p:nvSpPr>
          <p:cNvPr id="9" name="Text 7"/>
          <p:cNvSpPr/>
          <p:nvPr/>
        </p:nvSpPr>
        <p:spPr>
          <a:xfrm>
            <a:off x="365760" y="502920"/>
            <a:ext cx="84124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📄 inventario_alimento_ganado_grafico.py   ·   Líneas 533 – 563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841248"/>
            <a:ext cx="8686800" cy="987552"/>
          </a:xfrm>
          <a:prstGeom prst="roundRect">
            <a:avLst>
              <a:gd name="adj" fmla="val 3704"/>
            </a:avLst>
          </a:prstGeom>
          <a:solidFill>
            <a:srgbClr val="F0FFF4"/>
          </a:solidFill>
        </p:spPr>
      </p:sp>
      <p:sp>
        <p:nvSpPr>
          <p:cNvPr id="11" name="Text 9"/>
          <p:cNvSpPr/>
          <p:nvPr/>
        </p:nvSpPr>
        <p:spPr>
          <a:xfrm>
            <a:off x="365760" y="886968"/>
            <a:ext cx="84124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def tick(self):  # cada 30 ms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avanza días según velocidad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redibuja pestaña activa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if __name__ == "__main__":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App(tk.Tk()); mainloop()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4480560"/>
            <a:ext cx="8595360" cy="29273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Bucle de animación y punto de entrada. Relación: 4.1 (el simulador se ejecuta y genera resultados).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600" y="4773168"/>
            <a:ext cx="80467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José Ángel Gómez Rincón | 241260049 | Tema 4 · Actividad 4.2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366760" y="4773168"/>
            <a:ext cx="457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</a:t>
            </a:r>
            <a:endParaRPr lang="en-US" sz="900" dirty="0"/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855980"/>
            <a:ext cx="8686800" cy="361632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228600" y="64008"/>
            <a:ext cx="5212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Ejecución del programa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532120" y="54864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38A169"/>
          </a:solidFill>
        </p:spPr>
      </p:sp>
      <p:sp>
        <p:nvSpPr>
          <p:cNvPr id="5" name="Text 3"/>
          <p:cNvSpPr/>
          <p:nvPr/>
        </p:nvSpPr>
        <p:spPr>
          <a:xfrm>
            <a:off x="5532120" y="73152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Inventario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269480" y="54864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3776AB"/>
          </a:solidFill>
        </p:spPr>
      </p:sp>
      <p:sp>
        <p:nvSpPr>
          <p:cNvPr id="7" name="Text 5"/>
          <p:cNvSpPr/>
          <p:nvPr/>
        </p:nvSpPr>
        <p:spPr>
          <a:xfrm>
            <a:off x="7269480" y="73152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502920"/>
            <a:ext cx="8686800" cy="320040"/>
          </a:xfrm>
          <a:prstGeom prst="roundRect">
            <a:avLst>
              <a:gd name="adj" fmla="val 11429"/>
            </a:avLst>
          </a:prstGeom>
          <a:solidFill>
            <a:srgbClr val="C53030"/>
          </a:solidFill>
        </p:spPr>
      </p:sp>
      <p:sp>
        <p:nvSpPr>
          <p:cNvPr id="9" name="Text 7"/>
          <p:cNvSpPr/>
          <p:nvPr/>
        </p:nvSpPr>
        <p:spPr>
          <a:xfrm>
            <a:off x="365760" y="530352"/>
            <a:ext cx="84124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  Ejecución — inventario_alimento_ganado_grafico.py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" y="960120"/>
            <a:ext cx="8503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Ejecutar: python inventario_alimento_ganado_grafico.py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Pestaña 1: animar un año con Q y R elegidos. Pestaña 2: calcular malla y observar la política óptima (barra dorada).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1691640"/>
            <a:ext cx="7680960" cy="2651760"/>
          </a:xfrm>
          <a:prstGeom prst="roundRect">
            <a:avLst>
              <a:gd name="adj" fmla="val 2759"/>
            </a:avLst>
          </a:prstGeom>
          <a:solidFill>
            <a:srgbClr val="EDF2F7"/>
          </a:solidFill>
          <a:ln w="19050">
            <a:solidFill>
              <a:srgbClr val="A0AEC0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731520" y="2651760"/>
            <a:ext cx="76809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Inserta aquí la captura de pantalla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 la ejecución de este archivo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28600" y="4773168"/>
            <a:ext cx="80467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José Ángel Gómez Rincón | 241260049 | Tema 4 · Actividad 4.2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366760" y="4773168"/>
            <a:ext cx="457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</a:t>
            </a:r>
            <a:endParaRPr lang="en-US" sz="900" dirty="0"/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557655"/>
            <a:ext cx="8686800" cy="320992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Imagen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0"/>
            <a:ext cx="9143365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B07219"/>
          </a:solidFill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InventarioAlimentoGanadoGrafico.java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228600" y="64008"/>
            <a:ext cx="5212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Importaciones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532120" y="54864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38A169"/>
          </a:solidFill>
        </p:spPr>
      </p:sp>
      <p:sp>
        <p:nvSpPr>
          <p:cNvPr id="5" name="Text 3"/>
          <p:cNvSpPr/>
          <p:nvPr/>
        </p:nvSpPr>
        <p:spPr>
          <a:xfrm>
            <a:off x="5532120" y="73152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Inventario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269480" y="54864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B07219"/>
          </a:solidFill>
        </p:spPr>
      </p:sp>
      <p:sp>
        <p:nvSpPr>
          <p:cNvPr id="7" name="Text 5"/>
          <p:cNvSpPr/>
          <p:nvPr/>
        </p:nvSpPr>
        <p:spPr>
          <a:xfrm>
            <a:off x="7269480" y="73152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475488"/>
            <a:ext cx="8686800" cy="274320"/>
          </a:xfrm>
          <a:prstGeom prst="roundRect">
            <a:avLst>
              <a:gd name="adj" fmla="val 13333"/>
            </a:avLst>
          </a:prstGeom>
          <a:solidFill>
            <a:srgbClr val="2B6CB0"/>
          </a:solidFill>
        </p:spPr>
      </p:sp>
      <p:sp>
        <p:nvSpPr>
          <p:cNvPr id="9" name="Text 7"/>
          <p:cNvSpPr/>
          <p:nvPr/>
        </p:nvSpPr>
        <p:spPr>
          <a:xfrm>
            <a:off x="365760" y="502920"/>
            <a:ext cx="84124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📄 InventarioAlimentoGanadoGrafico.java   ·   Líneas 1 – 5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841248"/>
            <a:ext cx="8686800" cy="987552"/>
          </a:xfrm>
          <a:prstGeom prst="roundRect">
            <a:avLst>
              <a:gd name="adj" fmla="val 3704"/>
            </a:avLst>
          </a:prstGeom>
          <a:solidFill>
            <a:srgbClr val="F0FFF4"/>
          </a:solidFill>
        </p:spPr>
      </p:sp>
      <p:sp>
        <p:nvSpPr>
          <p:cNvPr id="11" name="Text 9"/>
          <p:cNvSpPr/>
          <p:nvPr/>
        </p:nvSpPr>
        <p:spPr>
          <a:xfrm>
            <a:off x="365760" y="886968"/>
            <a:ext cx="84124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import javax.swing.*;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import java.awt.*;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import java.awt.event.*;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import java.util.*;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import java.util.List;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28600" y="4337685"/>
            <a:ext cx="8595360" cy="47180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javax.swing: JFrame, JPanel, JButton, JTabbedPane, Timer. java.awt: Graphics2D, Color, Polygon. event: mouse y ActionListener. util: Random, ArrayList. Relación: 4.1–4.2 (API gráfica y de utilidad del lenguaje).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600" y="4773168"/>
            <a:ext cx="80467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José Ángel Gómez Rincón | 241260049 | Tema 4 · Actividad 4.2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366760" y="4773168"/>
            <a:ext cx="457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</a:t>
            </a:r>
            <a:endParaRPr lang="en-US" sz="900" dirty="0"/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834390"/>
            <a:ext cx="8686165" cy="346773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228600" y="64008"/>
            <a:ext cx="5212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Parámetros y Random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532120" y="54864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38A169"/>
          </a:solidFill>
        </p:spPr>
      </p:sp>
      <p:sp>
        <p:nvSpPr>
          <p:cNvPr id="5" name="Text 3"/>
          <p:cNvSpPr/>
          <p:nvPr/>
        </p:nvSpPr>
        <p:spPr>
          <a:xfrm>
            <a:off x="5532120" y="73152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Inventario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269480" y="54864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B07219"/>
          </a:solidFill>
        </p:spPr>
      </p:sp>
      <p:sp>
        <p:nvSpPr>
          <p:cNvPr id="7" name="Text 5"/>
          <p:cNvSpPr/>
          <p:nvPr/>
        </p:nvSpPr>
        <p:spPr>
          <a:xfrm>
            <a:off x="7269480" y="73152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475488"/>
            <a:ext cx="8686800" cy="274320"/>
          </a:xfrm>
          <a:prstGeom prst="roundRect">
            <a:avLst>
              <a:gd name="adj" fmla="val 13333"/>
            </a:avLst>
          </a:prstGeom>
          <a:solidFill>
            <a:srgbClr val="2B6CB0"/>
          </a:solidFill>
        </p:spPr>
      </p:sp>
      <p:sp>
        <p:nvSpPr>
          <p:cNvPr id="9" name="Text 7"/>
          <p:cNvSpPr/>
          <p:nvPr/>
        </p:nvSpPr>
        <p:spPr>
          <a:xfrm>
            <a:off x="365760" y="502920"/>
            <a:ext cx="84124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📄 InventarioAlimentoGanadoGrafico.java   ·   Líneas 26 – 55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841248"/>
            <a:ext cx="8686800" cy="822960"/>
          </a:xfrm>
          <a:prstGeom prst="roundRect">
            <a:avLst>
              <a:gd name="adj" fmla="val 4444"/>
            </a:avLst>
          </a:prstGeom>
          <a:solidFill>
            <a:srgbClr val="F0FFF4"/>
          </a:solidFill>
        </p:spPr>
      </p:sp>
      <p:sp>
        <p:nvSpPr>
          <p:cNvPr id="11" name="Text 9"/>
          <p:cNvSpPr/>
          <p:nvPr/>
        </p:nvSpPr>
        <p:spPr>
          <a:xfrm>
            <a:off x="365760" y="886968"/>
            <a:ext cx="841248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public class InventarioAlimentoGanadoGrafico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DEM_VALORES, DEM_PROBS, LT_*, COSTOS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DIAS=365, REPLICAS=30, Q_OPCIONES, R_OPCIONES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static final Random rnd = ...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28600" y="4554220"/>
            <a:ext cx="8595360" cy="21907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Constantes del caso forrajería y generador Random. Relación: 4.3.2.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600" y="4773168"/>
            <a:ext cx="80467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José Ángel Gómez Rincón | 241260049 | Tema 4 · Actividad 4.2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366760" y="4773168"/>
            <a:ext cx="457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</a:t>
            </a:r>
            <a:endParaRPr lang="en-US" sz="900" dirty="0"/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849630"/>
            <a:ext cx="8686800" cy="369189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228600" y="64008"/>
            <a:ext cx="5212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discreta() y colores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532120" y="54864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38A169"/>
          </a:solidFill>
        </p:spPr>
      </p:sp>
      <p:sp>
        <p:nvSpPr>
          <p:cNvPr id="5" name="Text 3"/>
          <p:cNvSpPr/>
          <p:nvPr/>
        </p:nvSpPr>
        <p:spPr>
          <a:xfrm>
            <a:off x="5532120" y="73152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Inventario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269480" y="54864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B07219"/>
          </a:solidFill>
        </p:spPr>
      </p:sp>
      <p:sp>
        <p:nvSpPr>
          <p:cNvPr id="7" name="Text 5"/>
          <p:cNvSpPr/>
          <p:nvPr/>
        </p:nvSpPr>
        <p:spPr>
          <a:xfrm>
            <a:off x="7269480" y="73152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475488"/>
            <a:ext cx="8686800" cy="274320"/>
          </a:xfrm>
          <a:prstGeom prst="roundRect">
            <a:avLst>
              <a:gd name="adj" fmla="val 13333"/>
            </a:avLst>
          </a:prstGeom>
          <a:solidFill>
            <a:srgbClr val="2B6CB0"/>
          </a:solidFill>
        </p:spPr>
      </p:sp>
      <p:sp>
        <p:nvSpPr>
          <p:cNvPr id="9" name="Text 7"/>
          <p:cNvSpPr/>
          <p:nvPr/>
        </p:nvSpPr>
        <p:spPr>
          <a:xfrm>
            <a:off x="365760" y="502920"/>
            <a:ext cx="84124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📄 InventarioAlimentoGanadoGrafico.java   ·   Líneas 50 – 85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841248"/>
            <a:ext cx="8686800" cy="658368"/>
          </a:xfrm>
          <a:prstGeom prst="roundRect">
            <a:avLst>
              <a:gd name="adj" fmla="val 5556"/>
            </a:avLst>
          </a:prstGeom>
          <a:solidFill>
            <a:srgbClr val="F0FFF4"/>
          </a:solidFill>
        </p:spPr>
      </p:sp>
      <p:sp>
        <p:nvSpPr>
          <p:cNvPr id="11" name="Text 9"/>
          <p:cNvSpPr/>
          <p:nvPr/>
        </p:nvSpPr>
        <p:spPr>
          <a:xfrm>
            <a:off x="365760" y="886968"/>
            <a:ext cx="8412480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static int discreta(int[] valores, double[] probs)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static Color mezclar / escalar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VERDE, ROJO, NARANJA, AZUL, ORO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28600" y="4427220"/>
            <a:ext cx="8595360" cy="34607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Transformada inversa discreta y utilidades de color. Relación: VA del Tema 3 + capa visual (4.2).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600" y="4773168"/>
            <a:ext cx="80467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José Ángel Gómez Rincón | 241260049 | Tema 4 · Actividad 4.2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366760" y="4773168"/>
            <a:ext cx="457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</a:t>
            </a:r>
            <a:endParaRPr lang="en-US" sz="900" dirty="0"/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814070"/>
            <a:ext cx="8679815" cy="366522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228600" y="64008"/>
            <a:ext cx="5212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Clase Anio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532120" y="54864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38A169"/>
          </a:solidFill>
        </p:spPr>
      </p:sp>
      <p:sp>
        <p:nvSpPr>
          <p:cNvPr id="5" name="Text 3"/>
          <p:cNvSpPr/>
          <p:nvPr/>
        </p:nvSpPr>
        <p:spPr>
          <a:xfrm>
            <a:off x="5532120" y="73152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Inventario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269480" y="54864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B07219"/>
          </a:solidFill>
        </p:spPr>
      </p:sp>
      <p:sp>
        <p:nvSpPr>
          <p:cNvPr id="7" name="Text 5"/>
          <p:cNvSpPr/>
          <p:nvPr/>
        </p:nvSpPr>
        <p:spPr>
          <a:xfrm>
            <a:off x="7269480" y="73152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475488"/>
            <a:ext cx="8686800" cy="274320"/>
          </a:xfrm>
          <a:prstGeom prst="roundRect">
            <a:avLst>
              <a:gd name="adj" fmla="val 13333"/>
            </a:avLst>
          </a:prstGeom>
          <a:solidFill>
            <a:srgbClr val="2B6CB0"/>
          </a:solidFill>
        </p:spPr>
      </p:sp>
      <p:sp>
        <p:nvSpPr>
          <p:cNvPr id="9" name="Text 7"/>
          <p:cNvSpPr/>
          <p:nvPr/>
        </p:nvSpPr>
        <p:spPr>
          <a:xfrm>
            <a:off x="365760" y="502920"/>
            <a:ext cx="84124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📄 InventarioAlimentoGanadoGrafico.java   ·   Líneas 86 – 145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841248"/>
            <a:ext cx="8686800" cy="822960"/>
          </a:xfrm>
          <a:prstGeom prst="roundRect">
            <a:avLst>
              <a:gd name="adj" fmla="val 4444"/>
            </a:avLst>
          </a:prstGeom>
          <a:solidFill>
            <a:srgbClr val="F0FFF4"/>
          </a:solidFill>
        </p:spPr>
      </p:sp>
      <p:sp>
        <p:nvSpPr>
          <p:cNvPr id="11" name="Text 9"/>
          <p:cNvSpPr/>
          <p:nvPr/>
        </p:nvSpPr>
        <p:spPr>
          <a:xfrm>
            <a:off x="365760" y="886968"/>
            <a:ext cx="841248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static class Anio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void reiniciar(); void paso(boolean guardar);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double costo();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" y="4498975"/>
            <a:ext cx="8595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Estado de un año y avance diario (llegada, demanda, faltante, política Q,R). Relación: 4.3.2.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600" y="4773168"/>
            <a:ext cx="80467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José Ángel Gómez Rincón | 241260049 | Tema 4 · Actividad 4.2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366760" y="4773168"/>
            <a:ext cx="457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</a:t>
            </a:r>
            <a:endParaRPr lang="en-US" sz="900" dirty="0"/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814070"/>
            <a:ext cx="8687435" cy="365379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228600" y="64008"/>
            <a:ext cx="5212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promedio() y estado UI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532120" y="54864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38A169"/>
          </a:solidFill>
        </p:spPr>
      </p:sp>
      <p:sp>
        <p:nvSpPr>
          <p:cNvPr id="5" name="Text 3"/>
          <p:cNvSpPr/>
          <p:nvPr/>
        </p:nvSpPr>
        <p:spPr>
          <a:xfrm>
            <a:off x="5532120" y="73152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Inventario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269480" y="54864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B07219"/>
          </a:solidFill>
        </p:spPr>
      </p:sp>
      <p:sp>
        <p:nvSpPr>
          <p:cNvPr id="7" name="Text 5"/>
          <p:cNvSpPr/>
          <p:nvPr/>
        </p:nvSpPr>
        <p:spPr>
          <a:xfrm>
            <a:off x="7269480" y="73152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475488"/>
            <a:ext cx="8686800" cy="274320"/>
          </a:xfrm>
          <a:prstGeom prst="roundRect">
            <a:avLst>
              <a:gd name="adj" fmla="val 13333"/>
            </a:avLst>
          </a:prstGeom>
          <a:solidFill>
            <a:srgbClr val="2B6CB0"/>
          </a:solidFill>
        </p:spPr>
      </p:sp>
      <p:sp>
        <p:nvSpPr>
          <p:cNvPr id="9" name="Text 7"/>
          <p:cNvSpPr/>
          <p:nvPr/>
        </p:nvSpPr>
        <p:spPr>
          <a:xfrm>
            <a:off x="365760" y="502920"/>
            <a:ext cx="84124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📄 InventarioAlimentoGanadoGrafico.java   ·   Líneas 147 – 200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841248"/>
            <a:ext cx="8686800" cy="658368"/>
          </a:xfrm>
          <a:prstGeom prst="roundRect">
            <a:avLst>
              <a:gd name="adj" fmla="val 5556"/>
            </a:avLst>
          </a:prstGeom>
          <a:solidFill>
            <a:srgbClr val="F0FFF4"/>
          </a:solidFill>
        </p:spPr>
      </p:sp>
      <p:sp>
        <p:nvSpPr>
          <p:cNvPr id="11" name="Text 9"/>
          <p:cNvSpPr/>
          <p:nvPr/>
        </p:nvSpPr>
        <p:spPr>
          <a:xfrm>
            <a:off x="365760" y="886968"/>
            <a:ext cx="8412480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static double[] promedio(int Q, int R)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variables de interfaz: anio, corriendo,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costos[][], mejor, pendientes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28600" y="4418965"/>
            <a:ext cx="8595360" cy="29337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Réplicas para cada política y variables globales de la ventana. Relación: 4.4 y 4.2.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600" y="4773168"/>
            <a:ext cx="80467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José Ángel Gómez Rincón | 241260049 | Tema 4 · Actividad 4.2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366760" y="4773168"/>
            <a:ext cx="457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26</a:t>
            </a:r>
            <a:endParaRPr lang="en-US" sz="900" dirty="0"/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814070"/>
            <a:ext cx="8686800" cy="387096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Imagen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635" cy="514286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228600" y="64008"/>
            <a:ext cx="5212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Lienzo1 — animación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532120" y="54864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38A169"/>
          </a:solidFill>
        </p:spPr>
      </p:sp>
      <p:sp>
        <p:nvSpPr>
          <p:cNvPr id="5" name="Text 3"/>
          <p:cNvSpPr/>
          <p:nvPr/>
        </p:nvSpPr>
        <p:spPr>
          <a:xfrm>
            <a:off x="5532120" y="73152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Inventario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269480" y="54864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B07219"/>
          </a:solidFill>
        </p:spPr>
      </p:sp>
      <p:sp>
        <p:nvSpPr>
          <p:cNvPr id="7" name="Text 5"/>
          <p:cNvSpPr/>
          <p:nvPr/>
        </p:nvSpPr>
        <p:spPr>
          <a:xfrm>
            <a:off x="7269480" y="73152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475488"/>
            <a:ext cx="8686800" cy="274320"/>
          </a:xfrm>
          <a:prstGeom prst="roundRect">
            <a:avLst>
              <a:gd name="adj" fmla="val 13333"/>
            </a:avLst>
          </a:prstGeom>
          <a:solidFill>
            <a:srgbClr val="2B6CB0"/>
          </a:solidFill>
        </p:spPr>
      </p:sp>
      <p:sp>
        <p:nvSpPr>
          <p:cNvPr id="9" name="Text 7"/>
          <p:cNvSpPr/>
          <p:nvPr/>
        </p:nvSpPr>
        <p:spPr>
          <a:xfrm>
            <a:off x="365760" y="502920"/>
            <a:ext cx="84124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📄 InventarioAlimentoGanadoGrafico.java   ·   Líneas 210 – 360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841248"/>
            <a:ext cx="8686800" cy="822960"/>
          </a:xfrm>
          <a:prstGeom prst="roundRect">
            <a:avLst>
              <a:gd name="adj" fmla="val 4444"/>
            </a:avLst>
          </a:prstGeom>
          <a:solidFill>
            <a:srgbClr val="F0FFF4"/>
          </a:solidFill>
        </p:spPr>
      </p:sp>
      <p:sp>
        <p:nvSpPr>
          <p:cNvPr id="11" name="Text 9"/>
          <p:cNvSpPr/>
          <p:nvPr/>
        </p:nvSpPr>
        <p:spPr>
          <a:xfrm>
            <a:off x="365760" y="886968"/>
            <a:ext cx="841248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static class Lienzo1 extends JPanel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caja3d, camion, paintComponent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gráfica de inventario + leyenda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0" y="4479925"/>
            <a:ext cx="8595360" cy="29337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Panel que dibuja bodega 3D, camión y serie temporal. Relación: 4.2.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600" y="4773168"/>
            <a:ext cx="80467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José Ángel Gómez Rincón | 241260049 | Tema 4 · Actividad 4.2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366760" y="4773168"/>
            <a:ext cx="457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27</a:t>
            </a:r>
            <a:endParaRPr lang="en-US" sz="900" dirty="0"/>
          </a:p>
        </p:txBody>
      </p:sp>
      <p:pic>
        <p:nvPicPr>
          <p:cNvPr id="16" name="Imagen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801370"/>
            <a:ext cx="8686800" cy="363283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228600" y="64008"/>
            <a:ext cx="5212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Lienzo3D y calcularMalla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532120" y="54864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38A169"/>
          </a:solidFill>
        </p:spPr>
      </p:sp>
      <p:sp>
        <p:nvSpPr>
          <p:cNvPr id="5" name="Text 3"/>
          <p:cNvSpPr/>
          <p:nvPr/>
        </p:nvSpPr>
        <p:spPr>
          <a:xfrm>
            <a:off x="5532120" y="73152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Inventario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269480" y="54864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B07219"/>
          </a:solidFill>
        </p:spPr>
      </p:sp>
      <p:sp>
        <p:nvSpPr>
          <p:cNvPr id="7" name="Text 5"/>
          <p:cNvSpPr/>
          <p:nvPr/>
        </p:nvSpPr>
        <p:spPr>
          <a:xfrm>
            <a:off x="7269480" y="73152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475488"/>
            <a:ext cx="8686800" cy="274320"/>
          </a:xfrm>
          <a:prstGeom prst="roundRect">
            <a:avLst>
              <a:gd name="adj" fmla="val 13333"/>
            </a:avLst>
          </a:prstGeom>
          <a:solidFill>
            <a:srgbClr val="2B6CB0"/>
          </a:solidFill>
        </p:spPr>
      </p:sp>
      <p:sp>
        <p:nvSpPr>
          <p:cNvPr id="9" name="Text 7"/>
          <p:cNvSpPr/>
          <p:nvPr/>
        </p:nvSpPr>
        <p:spPr>
          <a:xfrm>
            <a:off x="365760" y="502920"/>
            <a:ext cx="84124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📄 InventarioAlimentoGanadoGrafico.java   ·   Líneas 380 – 560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841248"/>
            <a:ext cx="8686800" cy="658368"/>
          </a:xfrm>
          <a:prstGeom prst="roundRect">
            <a:avLst>
              <a:gd name="adj" fmla="val 5556"/>
            </a:avLst>
          </a:prstGeom>
          <a:solidFill>
            <a:srgbClr val="F0FFF4"/>
          </a:solidFill>
        </p:spPr>
      </p:sp>
      <p:sp>
        <p:nvSpPr>
          <p:cNvPr id="11" name="Text 9"/>
          <p:cNvSpPr/>
          <p:nvPr/>
        </p:nvSpPr>
        <p:spPr>
          <a:xfrm>
            <a:off x="365760" y="886968"/>
            <a:ext cx="8412480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calcularMalla() + Lienzo3D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proyección, barras por (Q,R)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rotación/zoom con mouse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2880" y="4498975"/>
            <a:ext cx="8595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Optimización visual de políticas. Relación: 4.2 y 4.4.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600" y="4773168"/>
            <a:ext cx="80467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José Ángel Gómez Rincón | 241260049 | Tema 4 · Actividad 4.2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366760" y="4773168"/>
            <a:ext cx="457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</a:t>
            </a:r>
            <a:endParaRPr lang="en-US" sz="900" dirty="0"/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845185"/>
            <a:ext cx="8686800" cy="367538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228600" y="64008"/>
            <a:ext cx="5212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crearVentana y main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532120" y="54864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38A169"/>
          </a:solidFill>
        </p:spPr>
      </p:sp>
      <p:sp>
        <p:nvSpPr>
          <p:cNvPr id="5" name="Text 3"/>
          <p:cNvSpPr/>
          <p:nvPr/>
        </p:nvSpPr>
        <p:spPr>
          <a:xfrm>
            <a:off x="5532120" y="73152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Inventario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269480" y="54864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B07219"/>
          </a:solidFill>
        </p:spPr>
      </p:sp>
      <p:sp>
        <p:nvSpPr>
          <p:cNvPr id="7" name="Text 5"/>
          <p:cNvSpPr/>
          <p:nvPr/>
        </p:nvSpPr>
        <p:spPr>
          <a:xfrm>
            <a:off x="7269480" y="73152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475488"/>
            <a:ext cx="8686800" cy="274320"/>
          </a:xfrm>
          <a:prstGeom prst="roundRect">
            <a:avLst>
              <a:gd name="adj" fmla="val 13333"/>
            </a:avLst>
          </a:prstGeom>
          <a:solidFill>
            <a:srgbClr val="2B6CB0"/>
          </a:solidFill>
        </p:spPr>
      </p:sp>
      <p:sp>
        <p:nvSpPr>
          <p:cNvPr id="9" name="Text 7"/>
          <p:cNvSpPr/>
          <p:nvPr/>
        </p:nvSpPr>
        <p:spPr>
          <a:xfrm>
            <a:off x="365760" y="502920"/>
            <a:ext cx="84124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📄 InventarioAlimentoGanadoGrafico.java   ·   Líneas 560 – 628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841248"/>
            <a:ext cx="8686800" cy="822960"/>
          </a:xfrm>
          <a:prstGeom prst="roundRect">
            <a:avLst>
              <a:gd name="adj" fmla="val 4444"/>
            </a:avLst>
          </a:prstGeom>
          <a:solidFill>
            <a:srgbClr val="F0FFF4"/>
          </a:solidFill>
        </p:spPr>
      </p:sp>
      <p:sp>
        <p:nvSpPr>
          <p:cNvPr id="11" name="Text 9"/>
          <p:cNvSpPr/>
          <p:nvPr/>
        </p:nvSpPr>
        <p:spPr>
          <a:xfrm>
            <a:off x="365760" y="886968"/>
            <a:ext cx="841248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static void crearVentana() { ...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public static void main(String[] args)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SwingUtilities.invokeLater(...);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28600" y="4479925"/>
            <a:ext cx="8595360" cy="29337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Arma pestañas, controles y Timer de 30 ms. Relación: 4.1 (punto de entrada del simulador).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600" y="4773168"/>
            <a:ext cx="80467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José Ángel Gómez Rincón | 241260049 | Tema 4 · Actividad 4.2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366760" y="4773168"/>
            <a:ext cx="457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</a:t>
            </a:r>
            <a:endParaRPr lang="en-US" sz="900" dirty="0"/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869315"/>
            <a:ext cx="8648065" cy="356552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Imagen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0"/>
            <a:ext cx="9143365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228600" y="64008"/>
            <a:ext cx="5212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Ejecución del programa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532120" y="54864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38A169"/>
          </a:solidFill>
        </p:spPr>
      </p:sp>
      <p:sp>
        <p:nvSpPr>
          <p:cNvPr id="5" name="Text 3"/>
          <p:cNvSpPr/>
          <p:nvPr/>
        </p:nvSpPr>
        <p:spPr>
          <a:xfrm>
            <a:off x="5532120" y="73152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Inventario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269480" y="54864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B07219"/>
          </a:solidFill>
        </p:spPr>
      </p:sp>
      <p:sp>
        <p:nvSpPr>
          <p:cNvPr id="7" name="Text 5"/>
          <p:cNvSpPr/>
          <p:nvPr/>
        </p:nvSpPr>
        <p:spPr>
          <a:xfrm>
            <a:off x="7269480" y="73152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502920"/>
            <a:ext cx="8686800" cy="320040"/>
          </a:xfrm>
          <a:prstGeom prst="roundRect">
            <a:avLst>
              <a:gd name="adj" fmla="val 11429"/>
            </a:avLst>
          </a:prstGeom>
          <a:solidFill>
            <a:srgbClr val="C53030"/>
          </a:solidFill>
        </p:spPr>
      </p:sp>
      <p:sp>
        <p:nvSpPr>
          <p:cNvPr id="9" name="Text 7"/>
          <p:cNvSpPr/>
          <p:nvPr/>
        </p:nvSpPr>
        <p:spPr>
          <a:xfrm>
            <a:off x="365760" y="530352"/>
            <a:ext cx="84124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  Ejecución — InventarioAlimentoGanadoGrafico.java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" y="960120"/>
            <a:ext cx="8503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Compilar: javac InventarioAlimentoGanadoGrafico.java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Ejecutar: java InventarioAlimentoGanadoGrafico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Pestaña 1: animación. Pestaña 2: calcular malla 3D.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1691640"/>
            <a:ext cx="7680960" cy="2651760"/>
          </a:xfrm>
          <a:prstGeom prst="roundRect">
            <a:avLst>
              <a:gd name="adj" fmla="val 2759"/>
            </a:avLst>
          </a:prstGeom>
          <a:solidFill>
            <a:srgbClr val="EDF2F7"/>
          </a:solidFill>
          <a:ln w="19050">
            <a:solidFill>
              <a:srgbClr val="A0AEC0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731520" y="2651760"/>
            <a:ext cx="76809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Inserta aquí la captura de pantalla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 la ejecución de este archivo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28600" y="4773168"/>
            <a:ext cx="80467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José Ángel Gómez Rincón | 241260049 | Tema 4 · Actividad 4.2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366760" y="4773168"/>
            <a:ext cx="457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</a:t>
            </a:r>
            <a:endParaRPr lang="en-US" sz="900" dirty="0"/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600200"/>
            <a:ext cx="8458200" cy="317119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Imagen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35" y="0"/>
            <a:ext cx="9145270" cy="503428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6DC3"/>
          </a:solidFill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inventario_alimento_ganado.R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228600" y="64008"/>
            <a:ext cx="5212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Encabezado y parámetros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532120" y="54864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38A169"/>
          </a:solidFill>
        </p:spPr>
      </p:sp>
      <p:sp>
        <p:nvSpPr>
          <p:cNvPr id="5" name="Text 3"/>
          <p:cNvSpPr/>
          <p:nvPr/>
        </p:nvSpPr>
        <p:spPr>
          <a:xfrm>
            <a:off x="5532120" y="73152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Inventario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269480" y="54864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276DC3"/>
          </a:solidFill>
        </p:spPr>
      </p:sp>
      <p:sp>
        <p:nvSpPr>
          <p:cNvPr id="7" name="Text 5"/>
          <p:cNvSpPr/>
          <p:nvPr/>
        </p:nvSpPr>
        <p:spPr>
          <a:xfrm>
            <a:off x="7269480" y="73152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475488"/>
            <a:ext cx="8686800" cy="274320"/>
          </a:xfrm>
          <a:prstGeom prst="roundRect">
            <a:avLst>
              <a:gd name="adj" fmla="val 13333"/>
            </a:avLst>
          </a:prstGeom>
          <a:solidFill>
            <a:srgbClr val="2B6CB0"/>
          </a:solidFill>
        </p:spPr>
      </p:sp>
      <p:sp>
        <p:nvSpPr>
          <p:cNvPr id="9" name="Text 7"/>
          <p:cNvSpPr/>
          <p:nvPr/>
        </p:nvSpPr>
        <p:spPr>
          <a:xfrm>
            <a:off x="365760" y="502920"/>
            <a:ext cx="84124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📄 inventario_alimento_ganado.R   ·   Líneas 1 – 40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841248"/>
            <a:ext cx="8686800" cy="822960"/>
          </a:xfrm>
          <a:prstGeom prst="roundRect">
            <a:avLst>
              <a:gd name="adj" fmla="val 4444"/>
            </a:avLst>
          </a:prstGeom>
          <a:solidFill>
            <a:srgbClr val="F0FFF4"/>
          </a:solidFill>
        </p:spPr>
      </p:sp>
      <p:sp>
        <p:nvSpPr>
          <p:cNvPr id="11" name="Text 9"/>
          <p:cNvSpPr/>
          <p:nvPr/>
        </p:nvSpPr>
        <p:spPr>
          <a:xfrm>
            <a:off x="365760" y="886968"/>
            <a:ext cx="841248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INVENTARIO - política (Q, R)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dem_valores, dem_probs, lt_valores, lt_probs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costo_pedido, costo_mantener, costo_faltante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dias=365, replicas=30, q_opciones, r_opciones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28600" y="4554220"/>
            <a:ext cx="8595360" cy="21907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Documentación del caso y parámetros. Relación: 4.3.2.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600" y="4773168"/>
            <a:ext cx="80467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José Ángel Gómez Rincón | 241260049 | Tema 4 · Actividad 4.2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366760" y="4773168"/>
            <a:ext cx="457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32</a:t>
            </a:r>
            <a:endParaRPr lang="en-US" sz="900" dirty="0"/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075" y="887095"/>
            <a:ext cx="8696960" cy="3622675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228600" y="64008"/>
            <a:ext cx="5212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discreta() y simular_anio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532120" y="54864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38A169"/>
          </a:solidFill>
        </p:spPr>
      </p:sp>
      <p:sp>
        <p:nvSpPr>
          <p:cNvPr id="5" name="Text 3"/>
          <p:cNvSpPr/>
          <p:nvPr/>
        </p:nvSpPr>
        <p:spPr>
          <a:xfrm>
            <a:off x="5532120" y="73152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Inventario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269480" y="54864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276DC3"/>
          </a:solidFill>
        </p:spPr>
      </p:sp>
      <p:sp>
        <p:nvSpPr>
          <p:cNvPr id="7" name="Text 5"/>
          <p:cNvSpPr/>
          <p:nvPr/>
        </p:nvSpPr>
        <p:spPr>
          <a:xfrm>
            <a:off x="7269480" y="73152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475488"/>
            <a:ext cx="8686800" cy="274320"/>
          </a:xfrm>
          <a:prstGeom prst="roundRect">
            <a:avLst>
              <a:gd name="adj" fmla="val 13333"/>
            </a:avLst>
          </a:prstGeom>
          <a:solidFill>
            <a:srgbClr val="2B6CB0"/>
          </a:solidFill>
        </p:spPr>
      </p:sp>
      <p:sp>
        <p:nvSpPr>
          <p:cNvPr id="9" name="Text 7"/>
          <p:cNvSpPr/>
          <p:nvPr/>
        </p:nvSpPr>
        <p:spPr>
          <a:xfrm>
            <a:off x="365760" y="502920"/>
            <a:ext cx="84124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📄 inventario_alimento_ganado.R   ·   Líneas 42 – 85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841248"/>
            <a:ext cx="8686800" cy="822960"/>
          </a:xfrm>
          <a:prstGeom prst="roundRect">
            <a:avLst>
              <a:gd name="adj" fmla="val 4444"/>
            </a:avLst>
          </a:prstGeom>
          <a:solidFill>
            <a:srgbClr val="F0FFF4"/>
          </a:solidFill>
        </p:spPr>
      </p:sp>
      <p:sp>
        <p:nvSpPr>
          <p:cNvPr id="11" name="Text 9"/>
          <p:cNvSpPr/>
          <p:nvPr/>
        </p:nvSpPr>
        <p:spPr>
          <a:xfrm>
            <a:off x="365760" y="886968"/>
            <a:ext cx="841248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discreta &lt;- function(valores, probs) { ...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simular_anio &lt;- function(Q, R)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for (dia in 1:dias) { llegada; demanda; política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28600" y="4516755"/>
            <a:ext cx="8595360" cy="2565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Generador discreto y simulación de un año. Relación: 4.3.2 y generadores del Tema 3.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600" y="4773168"/>
            <a:ext cx="80467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José Ángel Gómez Rincón | 241260049 | Tema 4 · Actividad 4.2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366760" y="4773168"/>
            <a:ext cx="457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33</a:t>
            </a:r>
            <a:endParaRPr lang="en-US" sz="900" dirty="0"/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814070"/>
            <a:ext cx="8686165" cy="3711575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228600" y="64008"/>
            <a:ext cx="5212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promedio, malla y mejor política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532120" y="54864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38A169"/>
          </a:solidFill>
        </p:spPr>
      </p:sp>
      <p:sp>
        <p:nvSpPr>
          <p:cNvPr id="5" name="Text 3"/>
          <p:cNvSpPr/>
          <p:nvPr/>
        </p:nvSpPr>
        <p:spPr>
          <a:xfrm>
            <a:off x="5532120" y="73152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Inventario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269480" y="54864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276DC3"/>
          </a:solidFill>
        </p:spPr>
      </p:sp>
      <p:sp>
        <p:nvSpPr>
          <p:cNvPr id="7" name="Text 5"/>
          <p:cNvSpPr/>
          <p:nvPr/>
        </p:nvSpPr>
        <p:spPr>
          <a:xfrm>
            <a:off x="7269480" y="73152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475488"/>
            <a:ext cx="8686800" cy="274320"/>
          </a:xfrm>
          <a:prstGeom prst="roundRect">
            <a:avLst>
              <a:gd name="adj" fmla="val 13333"/>
            </a:avLst>
          </a:prstGeom>
          <a:solidFill>
            <a:srgbClr val="2B6CB0"/>
          </a:solidFill>
        </p:spPr>
      </p:sp>
      <p:sp>
        <p:nvSpPr>
          <p:cNvPr id="9" name="Text 7"/>
          <p:cNvSpPr/>
          <p:nvPr/>
        </p:nvSpPr>
        <p:spPr>
          <a:xfrm>
            <a:off x="365760" y="502920"/>
            <a:ext cx="84124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📄 inventario_alimento_ganado.R   ·   Líneas 87 – 115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841248"/>
            <a:ext cx="8686800" cy="658368"/>
          </a:xfrm>
          <a:prstGeom prst="roundRect">
            <a:avLst>
              <a:gd name="adj" fmla="val 5556"/>
            </a:avLst>
          </a:prstGeom>
          <a:solidFill>
            <a:srgbClr val="F0FFF4"/>
          </a:solidFill>
        </p:spPr>
      </p:sp>
      <p:sp>
        <p:nvSpPr>
          <p:cNvPr id="11" name="Text 9"/>
          <p:cNvSpPr/>
          <p:nvPr/>
        </p:nvSpPr>
        <p:spPr>
          <a:xfrm>
            <a:off x="365760" y="886968"/>
            <a:ext cx="8412480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promedio &lt;- function(Q, R) rowMeans(replicate(...))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for (i,j) costos[i,j] &lt;- promedio(...)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mejor &lt;- which.min(costos)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28600" y="4448175"/>
            <a:ext cx="8595360" cy="25590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Réplicas, exploración de (Q,R) y selección del mínimo costo. Relación: 4.4 y 4.2.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600" y="4773168"/>
            <a:ext cx="80467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José Ángel Gómez Rincón | 241260049 | Tema 4 · Actividad 4.2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366760" y="4773168"/>
            <a:ext cx="457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34</a:t>
            </a:r>
            <a:endParaRPr lang="en-US" sz="900" dirty="0"/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878205"/>
            <a:ext cx="8686800" cy="3547745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228600" y="64008"/>
            <a:ext cx="5212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Gráfica de inventario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532120" y="54864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38A169"/>
          </a:solidFill>
        </p:spPr>
      </p:sp>
      <p:sp>
        <p:nvSpPr>
          <p:cNvPr id="5" name="Text 3"/>
          <p:cNvSpPr/>
          <p:nvPr/>
        </p:nvSpPr>
        <p:spPr>
          <a:xfrm>
            <a:off x="5532120" y="73152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Inventario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269480" y="54864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276DC3"/>
          </a:solidFill>
        </p:spPr>
      </p:sp>
      <p:sp>
        <p:nvSpPr>
          <p:cNvPr id="7" name="Text 5"/>
          <p:cNvSpPr/>
          <p:nvPr/>
        </p:nvSpPr>
        <p:spPr>
          <a:xfrm>
            <a:off x="7269480" y="73152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475488"/>
            <a:ext cx="8686800" cy="274320"/>
          </a:xfrm>
          <a:prstGeom prst="roundRect">
            <a:avLst>
              <a:gd name="adj" fmla="val 13333"/>
            </a:avLst>
          </a:prstGeom>
          <a:solidFill>
            <a:srgbClr val="2B6CB0"/>
          </a:solidFill>
        </p:spPr>
      </p:sp>
      <p:sp>
        <p:nvSpPr>
          <p:cNvPr id="9" name="Text 7"/>
          <p:cNvSpPr/>
          <p:nvPr/>
        </p:nvSpPr>
        <p:spPr>
          <a:xfrm>
            <a:off x="365760" y="502920"/>
            <a:ext cx="84124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📄 inventario_alimento_ganado.R   ·   Líneas 117 – 155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841248"/>
            <a:ext cx="8686800" cy="493776"/>
          </a:xfrm>
          <a:prstGeom prst="roundRect">
            <a:avLst>
              <a:gd name="adj" fmla="val 7407"/>
            </a:avLst>
          </a:prstGeom>
          <a:solidFill>
            <a:srgbClr val="F0FFF4"/>
          </a:solidFill>
        </p:spPr>
      </p:sp>
      <p:sp>
        <p:nvSpPr>
          <p:cNvPr id="11" name="Text 9"/>
          <p:cNvSpPr/>
          <p:nvPr/>
        </p:nvSpPr>
        <p:spPr>
          <a:xfrm>
            <a:off x="365760" y="886968"/>
            <a:ext cx="841248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simular_anio_detalle / plot()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abline(h=R); points pedidos, llegadas, faltantes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" y="4519295"/>
            <a:ext cx="8595360" cy="254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Serie temporal con eventos marcados. Relación: 4.2 (visualización de resultados).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600" y="4773168"/>
            <a:ext cx="80467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José Ángel Gómez Rincón | 241260049 | Tema 4 · Actividad 4.2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366760" y="4773168"/>
            <a:ext cx="457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35</a:t>
            </a:r>
            <a:endParaRPr lang="en-US" sz="900" dirty="0"/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78205"/>
            <a:ext cx="8640445" cy="362712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228600" y="64008"/>
            <a:ext cx="5212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Ejecución del programa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532120" y="54864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38A169"/>
          </a:solidFill>
        </p:spPr>
      </p:sp>
      <p:sp>
        <p:nvSpPr>
          <p:cNvPr id="5" name="Text 3"/>
          <p:cNvSpPr/>
          <p:nvPr/>
        </p:nvSpPr>
        <p:spPr>
          <a:xfrm>
            <a:off x="5532120" y="73152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Inventario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269480" y="54864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276DC3"/>
          </a:solidFill>
        </p:spPr>
      </p:sp>
      <p:sp>
        <p:nvSpPr>
          <p:cNvPr id="7" name="Text 5"/>
          <p:cNvSpPr/>
          <p:nvPr/>
        </p:nvSpPr>
        <p:spPr>
          <a:xfrm>
            <a:off x="7269480" y="73152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502920"/>
            <a:ext cx="8686800" cy="320040"/>
          </a:xfrm>
          <a:prstGeom prst="roundRect">
            <a:avLst>
              <a:gd name="adj" fmla="val 11429"/>
            </a:avLst>
          </a:prstGeom>
          <a:solidFill>
            <a:srgbClr val="C53030"/>
          </a:solidFill>
        </p:spPr>
      </p:sp>
      <p:sp>
        <p:nvSpPr>
          <p:cNvPr id="9" name="Text 7"/>
          <p:cNvSpPr/>
          <p:nvPr/>
        </p:nvSpPr>
        <p:spPr>
          <a:xfrm>
            <a:off x="365760" y="530352"/>
            <a:ext cx="84124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  Ejecución — inventario_alimento_ganado.R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" y="960120"/>
            <a:ext cx="8503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Ejecutar: Rscript inventario_alimento_ganado.R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(o source() en RStudio). Salida: tabla de costos, mejor (Q,R) y gráfica del inventario.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1691640"/>
            <a:ext cx="7680960" cy="2651760"/>
          </a:xfrm>
          <a:prstGeom prst="roundRect">
            <a:avLst>
              <a:gd name="adj" fmla="val 2759"/>
            </a:avLst>
          </a:prstGeom>
          <a:solidFill>
            <a:srgbClr val="EDF2F7"/>
          </a:solidFill>
          <a:ln w="19050">
            <a:solidFill>
              <a:srgbClr val="A0AEC0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731520" y="2651760"/>
            <a:ext cx="76809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Inserta aquí la captura de pantalla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 la ejecución de este archivo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28600" y="4773168"/>
            <a:ext cx="80467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José Ángel Gómez Rincón | 241260049 | Tema 4 · Actividad 4.2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366760" y="4773168"/>
            <a:ext cx="457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36</a:t>
            </a:r>
            <a:endParaRPr lang="en-US" sz="900" dirty="0"/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476375"/>
            <a:ext cx="8199120" cy="3296285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805AD5"/>
          </a:solidFill>
        </p:spPr>
      </p:sp>
      <p:sp>
        <p:nvSpPr>
          <p:cNvPr id="3" name="Text 1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EJEMPLO 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LÍNEA DE ESPERA 1 — Relojería (M/M/1)</a:t>
            </a:r>
            <a:endParaRPr lang="en-US" sz="24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776AB"/>
          </a:solidFill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linea_espera_1_relojeria_grafico.py</a:t>
            </a:r>
            <a:endParaRPr lang="en-US" sz="14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228600" y="64008"/>
            <a:ext cx="5212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Importaciones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532120" y="54864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805AD5"/>
          </a:solidFill>
        </p:spPr>
      </p:sp>
      <p:sp>
        <p:nvSpPr>
          <p:cNvPr id="5" name="Text 3"/>
          <p:cNvSpPr/>
          <p:nvPr/>
        </p:nvSpPr>
        <p:spPr>
          <a:xfrm>
            <a:off x="5532120" y="73152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Relojería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269480" y="54864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3776AB"/>
          </a:solidFill>
        </p:spPr>
      </p:sp>
      <p:sp>
        <p:nvSpPr>
          <p:cNvPr id="7" name="Text 5"/>
          <p:cNvSpPr/>
          <p:nvPr/>
        </p:nvSpPr>
        <p:spPr>
          <a:xfrm>
            <a:off x="7269480" y="73152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475488"/>
            <a:ext cx="8686800" cy="274320"/>
          </a:xfrm>
          <a:prstGeom prst="roundRect">
            <a:avLst>
              <a:gd name="adj" fmla="val 13333"/>
            </a:avLst>
          </a:prstGeom>
          <a:solidFill>
            <a:srgbClr val="2B6CB0"/>
          </a:solidFill>
        </p:spPr>
      </p:sp>
      <p:sp>
        <p:nvSpPr>
          <p:cNvPr id="9" name="Text 7"/>
          <p:cNvSpPr/>
          <p:nvPr/>
        </p:nvSpPr>
        <p:spPr>
          <a:xfrm>
            <a:off x="365760" y="502920"/>
            <a:ext cx="84124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📄 linea_espera_1_relojeria_grafico.py   ·   Líneas 4</a:t>
            </a:r>
            <a:r>
              <a:rPr lang="es-MX" alt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– </a:t>
            </a:r>
            <a:r>
              <a:rPr lang="es-MX" alt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49</a:t>
            </a:r>
            <a:endParaRPr lang="es-MX" altLang="en-US" sz="11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28600" y="841248"/>
            <a:ext cx="8686800" cy="987552"/>
          </a:xfrm>
          <a:prstGeom prst="roundRect">
            <a:avLst>
              <a:gd name="adj" fmla="val 3704"/>
            </a:avLst>
          </a:prstGeom>
          <a:solidFill>
            <a:srgbClr val="F0FFF4"/>
          </a:solidFill>
        </p:spPr>
      </p:sp>
      <p:sp>
        <p:nvSpPr>
          <p:cNvPr id="11" name="Text 9"/>
          <p:cNvSpPr/>
          <p:nvPr/>
        </p:nvSpPr>
        <p:spPr>
          <a:xfrm>
            <a:off x="365760" y="886968"/>
            <a:ext cx="84124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import math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import random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import time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import tkinter as tk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from collections import deque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2880" y="4555490"/>
            <a:ext cx="8595360" cy="20129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math: factorial y log. random: U(0,1). time: dt de animación. tkinter: GUI. deque: historial acotado de gráficas. Relación: 4.1–4.2.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600" y="4773168"/>
            <a:ext cx="80467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José Ángel Gómez Rincón | 241260049 | Tema 4 · Actividad 4.2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366760" y="4773168"/>
            <a:ext cx="457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39</a:t>
            </a:r>
            <a:endParaRPr lang="en-US" sz="900" dirty="0"/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250" y="814705"/>
            <a:ext cx="8646795" cy="359791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228600" y="64008"/>
            <a:ext cx="5212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Parámetros M/M/1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532120" y="54864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805AD5"/>
          </a:solidFill>
        </p:spPr>
      </p:sp>
      <p:sp>
        <p:nvSpPr>
          <p:cNvPr id="5" name="Text 3"/>
          <p:cNvSpPr/>
          <p:nvPr/>
        </p:nvSpPr>
        <p:spPr>
          <a:xfrm>
            <a:off x="5532120" y="73152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Relojería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269480" y="54864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3776AB"/>
          </a:solidFill>
        </p:spPr>
      </p:sp>
      <p:sp>
        <p:nvSpPr>
          <p:cNvPr id="7" name="Text 5"/>
          <p:cNvSpPr/>
          <p:nvPr/>
        </p:nvSpPr>
        <p:spPr>
          <a:xfrm>
            <a:off x="7269480" y="73152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475488"/>
            <a:ext cx="8686800" cy="274320"/>
          </a:xfrm>
          <a:prstGeom prst="roundRect">
            <a:avLst>
              <a:gd name="adj" fmla="val 13333"/>
            </a:avLst>
          </a:prstGeom>
          <a:solidFill>
            <a:srgbClr val="2B6CB0"/>
          </a:solidFill>
        </p:spPr>
      </p:sp>
      <p:sp>
        <p:nvSpPr>
          <p:cNvPr id="9" name="Text 7"/>
          <p:cNvSpPr/>
          <p:nvPr/>
        </p:nvSpPr>
        <p:spPr>
          <a:xfrm>
            <a:off x="365760" y="502920"/>
            <a:ext cx="84124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📄 linea_espera_1_relojeria_grafico.py   ·   Líneas 54 – 75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841248"/>
            <a:ext cx="8686800" cy="658368"/>
          </a:xfrm>
          <a:prstGeom prst="roundRect">
            <a:avLst>
              <a:gd name="adj" fmla="val 5556"/>
            </a:avLst>
          </a:prstGeom>
          <a:solidFill>
            <a:srgbClr val="F0FFF4"/>
          </a:solidFill>
        </p:spPr>
      </p:sp>
      <p:sp>
        <p:nvSpPr>
          <p:cNvPr id="11" name="Text 9"/>
          <p:cNvSpPr/>
          <p:nvPr/>
        </p:nvSpPr>
        <p:spPr>
          <a:xfrm>
            <a:off x="365760" y="886968"/>
            <a:ext cx="8412480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TASA_LLEGADA=2.0, TASA_SERVICIO=2.5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SERVIDORES_INICIAL=1, MAX_ATENDIDOS=800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FORMA_CLIENTE="persona", colores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28600" y="4479925"/>
            <a:ext cx="8595360" cy="29337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λ=2, μ=2.5, un relojero, parada con sistema vacío. Relación: 4.3.1.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600" y="4773168"/>
            <a:ext cx="80467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José Ángel Gómez Rincón | 241260049 | Tema 4 · Actividad 4.2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366760" y="4773168"/>
            <a:ext cx="457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40</a:t>
            </a:r>
            <a:endParaRPr lang="en-US" sz="900" dirty="0"/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5270" y="842010"/>
            <a:ext cx="8614410" cy="364363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228600" y="64008"/>
            <a:ext cx="5212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exponencial() y erlang_c()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532120" y="54864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805AD5"/>
          </a:solidFill>
        </p:spPr>
      </p:sp>
      <p:sp>
        <p:nvSpPr>
          <p:cNvPr id="5" name="Text 3"/>
          <p:cNvSpPr/>
          <p:nvPr/>
        </p:nvSpPr>
        <p:spPr>
          <a:xfrm>
            <a:off x="5532120" y="73152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Relojería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269480" y="54864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3776AB"/>
          </a:solidFill>
        </p:spPr>
      </p:sp>
      <p:sp>
        <p:nvSpPr>
          <p:cNvPr id="7" name="Text 5"/>
          <p:cNvSpPr/>
          <p:nvPr/>
        </p:nvSpPr>
        <p:spPr>
          <a:xfrm>
            <a:off x="7269480" y="73152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475488"/>
            <a:ext cx="8686800" cy="274320"/>
          </a:xfrm>
          <a:prstGeom prst="roundRect">
            <a:avLst>
              <a:gd name="adj" fmla="val 13333"/>
            </a:avLst>
          </a:prstGeom>
          <a:solidFill>
            <a:srgbClr val="2B6CB0"/>
          </a:solidFill>
        </p:spPr>
      </p:sp>
      <p:sp>
        <p:nvSpPr>
          <p:cNvPr id="9" name="Text 7"/>
          <p:cNvSpPr/>
          <p:nvPr/>
        </p:nvSpPr>
        <p:spPr>
          <a:xfrm>
            <a:off x="365760" y="502920"/>
            <a:ext cx="84124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📄 linea_espera_1_relojeria_grafico.py   ·   Líneas 78 – 125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841248"/>
            <a:ext cx="8686800" cy="658368"/>
          </a:xfrm>
          <a:prstGeom prst="roundRect">
            <a:avLst>
              <a:gd name="adj" fmla="val 5556"/>
            </a:avLst>
          </a:prstGeom>
          <a:solidFill>
            <a:srgbClr val="F0FFF4"/>
          </a:solidFill>
        </p:spPr>
      </p:sp>
      <p:sp>
        <p:nvSpPr>
          <p:cNvPr id="11" name="Text 9"/>
          <p:cNvSpPr/>
          <p:nvPr/>
        </p:nvSpPr>
        <p:spPr>
          <a:xfrm>
            <a:off x="365760" y="886968"/>
            <a:ext cx="8412480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def exponencial(tasa): -log(1-U)/tasa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def erlang_c(c, λ, μ): Wq, W, Lq, rho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# None si rho&gt;=1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28600" y="4554220"/>
            <a:ext cx="8595360" cy="21907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Transformada inversa y fórmulas teóricas M/M/c. Relación: 4.3.1 + 4.4 (validación sim vs teoría).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600" y="4773168"/>
            <a:ext cx="80467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José Ángel Gómez Rincón | 241260049 | Tema 4 · Actividad 4.2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366760" y="4773168"/>
            <a:ext cx="457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41</a:t>
            </a:r>
            <a:endParaRPr lang="en-US" sz="900" dirty="0"/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1620" y="835660"/>
            <a:ext cx="8653780" cy="3667125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228600" y="64008"/>
            <a:ext cx="5212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Cliente y Modelo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532120" y="54864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805AD5"/>
          </a:solidFill>
        </p:spPr>
      </p:sp>
      <p:sp>
        <p:nvSpPr>
          <p:cNvPr id="5" name="Text 3"/>
          <p:cNvSpPr/>
          <p:nvPr/>
        </p:nvSpPr>
        <p:spPr>
          <a:xfrm>
            <a:off x="5532120" y="73152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Relojería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269480" y="54864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3776AB"/>
          </a:solidFill>
        </p:spPr>
      </p:sp>
      <p:sp>
        <p:nvSpPr>
          <p:cNvPr id="7" name="Text 5"/>
          <p:cNvSpPr/>
          <p:nvPr/>
        </p:nvSpPr>
        <p:spPr>
          <a:xfrm>
            <a:off x="7269480" y="73152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475488"/>
            <a:ext cx="8686800" cy="274320"/>
          </a:xfrm>
          <a:prstGeom prst="roundRect">
            <a:avLst>
              <a:gd name="adj" fmla="val 13333"/>
            </a:avLst>
          </a:prstGeom>
          <a:solidFill>
            <a:srgbClr val="2B6CB0"/>
          </a:solidFill>
        </p:spPr>
      </p:sp>
      <p:sp>
        <p:nvSpPr>
          <p:cNvPr id="9" name="Text 7"/>
          <p:cNvSpPr/>
          <p:nvPr/>
        </p:nvSpPr>
        <p:spPr>
          <a:xfrm>
            <a:off x="365760" y="502920"/>
            <a:ext cx="84124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📄 linea_espera_1_relojeria_grafico.py   ·   Líneas 150 – 290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841248"/>
            <a:ext cx="8686800" cy="822960"/>
          </a:xfrm>
          <a:prstGeom prst="roundRect">
            <a:avLst>
              <a:gd name="adj" fmla="val 4444"/>
            </a:avLst>
          </a:prstGeom>
          <a:solidFill>
            <a:srgbClr val="F0FFF4"/>
          </a:solidFill>
        </p:spPr>
      </p:sp>
      <p:sp>
        <p:nvSpPr>
          <p:cNvPr id="11" name="Text 9"/>
          <p:cNvSpPr/>
          <p:nvPr/>
        </p:nvSpPr>
        <p:spPr>
          <a:xfrm>
            <a:off x="365760" y="886968"/>
            <a:ext cx="841248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class Cliente: llegada, servicio, x, 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class Modelo: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_llegada, _salida, avanzar, terminado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acumula area_cola y area_ocupados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" y="4517390"/>
            <a:ext cx="8595360" cy="25590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Entidades y motor de eventos discretos con condición de parada. Relación: 4.1–4.2 y 4.3.1.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600" y="4773168"/>
            <a:ext cx="80467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José Ángel Gómez Rincón | 241260049 | Tema 4 · Actividad 4.2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366760" y="4773168"/>
            <a:ext cx="457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42</a:t>
            </a:r>
            <a:endParaRPr lang="en-US" sz="900" dirty="0"/>
          </a:p>
        </p:txBody>
      </p:sp>
      <p:pic>
        <p:nvPicPr>
          <p:cNvPr id="16" name="Imagen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0665" y="843915"/>
            <a:ext cx="8674100" cy="367284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228600" y="64008"/>
            <a:ext cx="5212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 — controles y animación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532120" y="54864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805AD5"/>
          </a:solidFill>
        </p:spPr>
      </p:sp>
      <p:sp>
        <p:nvSpPr>
          <p:cNvPr id="5" name="Text 3"/>
          <p:cNvSpPr/>
          <p:nvPr/>
        </p:nvSpPr>
        <p:spPr>
          <a:xfrm>
            <a:off x="5532120" y="73152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Relojería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269480" y="54864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3776AB"/>
          </a:solidFill>
        </p:spPr>
      </p:sp>
      <p:sp>
        <p:nvSpPr>
          <p:cNvPr id="7" name="Text 5"/>
          <p:cNvSpPr/>
          <p:nvPr/>
        </p:nvSpPr>
        <p:spPr>
          <a:xfrm>
            <a:off x="7269480" y="73152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475488"/>
            <a:ext cx="8686800" cy="274320"/>
          </a:xfrm>
          <a:prstGeom prst="roundRect">
            <a:avLst>
              <a:gd name="adj" fmla="val 13333"/>
            </a:avLst>
          </a:prstGeom>
          <a:solidFill>
            <a:srgbClr val="2B6CB0"/>
          </a:solidFill>
        </p:spPr>
      </p:sp>
      <p:sp>
        <p:nvSpPr>
          <p:cNvPr id="9" name="Text 7"/>
          <p:cNvSpPr/>
          <p:nvPr/>
        </p:nvSpPr>
        <p:spPr>
          <a:xfrm>
            <a:off x="365760" y="502920"/>
            <a:ext cx="84124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📄 linea_espera_1_relojeria_grafico.py   ·   Líneas 300 – 450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841248"/>
            <a:ext cx="8686800" cy="658368"/>
          </a:xfrm>
          <a:prstGeom prst="roundRect">
            <a:avLst>
              <a:gd name="adj" fmla="val 5556"/>
            </a:avLst>
          </a:prstGeom>
          <a:solidFill>
            <a:srgbClr val="F0FFF4"/>
          </a:solidFill>
        </p:spPr>
      </p:sp>
      <p:sp>
        <p:nvSpPr>
          <p:cNvPr id="11" name="Text 9"/>
          <p:cNvSpPr/>
          <p:nvPr/>
        </p:nvSpPr>
        <p:spPr>
          <a:xfrm>
            <a:off x="365760" y="886968"/>
            <a:ext cx="8412480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class App: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Iniciar/Pausar, Reiniciar, Salto +200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Scale velocidad, Canvas clientes+relojero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28600" y="4498975"/>
            <a:ext cx="8595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Interfaz interactiva del sistema M/M/1. Relación: 4.2.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600" y="4773168"/>
            <a:ext cx="80467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José Ángel Gómez Rincón | 241260049 | Tema 4 · Actividad 4.2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366760" y="4773168"/>
            <a:ext cx="457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43</a:t>
            </a:r>
            <a:endParaRPr lang="en-US" sz="900" dirty="0"/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4000" y="814070"/>
            <a:ext cx="8660765" cy="369697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228600" y="64008"/>
            <a:ext cx="5212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Estadísticas y gráficas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532120" y="54864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805AD5"/>
          </a:solidFill>
        </p:spPr>
      </p:sp>
      <p:sp>
        <p:nvSpPr>
          <p:cNvPr id="5" name="Text 3"/>
          <p:cNvSpPr/>
          <p:nvPr/>
        </p:nvSpPr>
        <p:spPr>
          <a:xfrm>
            <a:off x="5532120" y="73152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Relojería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269480" y="54864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3776AB"/>
          </a:solidFill>
        </p:spPr>
      </p:sp>
      <p:sp>
        <p:nvSpPr>
          <p:cNvPr id="7" name="Text 5"/>
          <p:cNvSpPr/>
          <p:nvPr/>
        </p:nvSpPr>
        <p:spPr>
          <a:xfrm>
            <a:off x="7269480" y="73152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475488"/>
            <a:ext cx="8686800" cy="274320"/>
          </a:xfrm>
          <a:prstGeom prst="roundRect">
            <a:avLst>
              <a:gd name="adj" fmla="val 13333"/>
            </a:avLst>
          </a:prstGeom>
          <a:solidFill>
            <a:srgbClr val="2B6CB0"/>
          </a:solidFill>
        </p:spPr>
      </p:sp>
      <p:sp>
        <p:nvSpPr>
          <p:cNvPr id="9" name="Text 7"/>
          <p:cNvSpPr/>
          <p:nvPr/>
        </p:nvSpPr>
        <p:spPr>
          <a:xfrm>
            <a:off x="365760" y="502920"/>
            <a:ext cx="84124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📄 linea_espera_1_relojeria_grafico.py   ·   Líneas 450 – 650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841248"/>
            <a:ext cx="8686800" cy="493776"/>
          </a:xfrm>
          <a:prstGeom prst="roundRect">
            <a:avLst>
              <a:gd name="adj" fmla="val 7407"/>
            </a:avLst>
          </a:prstGeom>
          <a:solidFill>
            <a:srgbClr val="F0FFF4"/>
          </a:solidFill>
        </p:spPr>
      </p:sp>
      <p:sp>
        <p:nvSpPr>
          <p:cNvPr id="11" name="Text 9"/>
          <p:cNvSpPr/>
          <p:nvPr/>
        </p:nvSpPr>
        <p:spPr>
          <a:xfrm>
            <a:off x="365760" y="886968"/>
            <a:ext cx="841248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dibujar_estadisticas: Wq,W,Lq,rho vs teoría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dibujar_graficas: cola y Wq acumulada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28600" y="4518660"/>
            <a:ext cx="8595360" cy="25463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Panel simulación vs teoría y series en vivo. Relación: 4.4.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600" y="4773168"/>
            <a:ext cx="80467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José Ángel Gómez Rincón | 241260049 | Tema 4 · Actividad 4.2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366760" y="4773168"/>
            <a:ext cx="457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44</a:t>
            </a:r>
            <a:endParaRPr lang="en-US" sz="900" dirty="0"/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2580" y="844550"/>
            <a:ext cx="8592185" cy="367411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228600" y="64008"/>
            <a:ext cx="5212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Ejecución del programa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532120" y="54864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805AD5"/>
          </a:solidFill>
        </p:spPr>
      </p:sp>
      <p:sp>
        <p:nvSpPr>
          <p:cNvPr id="5" name="Text 3"/>
          <p:cNvSpPr/>
          <p:nvPr/>
        </p:nvSpPr>
        <p:spPr>
          <a:xfrm>
            <a:off x="5532120" y="73152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Relojería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269480" y="54864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3776AB"/>
          </a:solidFill>
        </p:spPr>
      </p:sp>
      <p:sp>
        <p:nvSpPr>
          <p:cNvPr id="7" name="Text 5"/>
          <p:cNvSpPr/>
          <p:nvPr/>
        </p:nvSpPr>
        <p:spPr>
          <a:xfrm>
            <a:off x="7269480" y="73152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502920"/>
            <a:ext cx="8686800" cy="320040"/>
          </a:xfrm>
          <a:prstGeom prst="roundRect">
            <a:avLst>
              <a:gd name="adj" fmla="val 11429"/>
            </a:avLst>
          </a:prstGeom>
          <a:solidFill>
            <a:srgbClr val="C53030"/>
          </a:solidFill>
        </p:spPr>
      </p:sp>
      <p:sp>
        <p:nvSpPr>
          <p:cNvPr id="9" name="Text 7"/>
          <p:cNvSpPr/>
          <p:nvPr/>
        </p:nvSpPr>
        <p:spPr>
          <a:xfrm>
            <a:off x="365760" y="530352"/>
            <a:ext cx="84124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  Ejecución — linea_espera_1_relojeria_grafico.py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" y="960120"/>
            <a:ext cx="8503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Ejecutar: python linea_espera_1_relojeria_grafico.py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Animar hasta ≥800 atendidos y sistema vacío; observar Wq vs teoría.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1691640"/>
            <a:ext cx="7680960" cy="2651760"/>
          </a:xfrm>
          <a:prstGeom prst="roundRect">
            <a:avLst>
              <a:gd name="adj" fmla="val 2759"/>
            </a:avLst>
          </a:prstGeom>
          <a:solidFill>
            <a:srgbClr val="EDF2F7"/>
          </a:solidFill>
          <a:ln w="19050">
            <a:solidFill>
              <a:srgbClr val="A0AEC0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731520" y="2651760"/>
            <a:ext cx="76809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Inserta aquí la captura de pantalla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 la ejecución de este archivo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28600" y="4773168"/>
            <a:ext cx="80467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José Ángel Gómez Rincón | 241260049 | Tema 4 · Actividad 4.2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366760" y="4773168"/>
            <a:ext cx="457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45</a:t>
            </a:r>
            <a:endParaRPr lang="en-US" sz="900" dirty="0"/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5775" y="1586230"/>
            <a:ext cx="8172450" cy="3175635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B07219"/>
          </a:solidFill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LineaEspera1RelojeriaGrafico.java</a:t>
            </a:r>
            <a:endParaRPr lang="en-US" sz="14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228600" y="64008"/>
            <a:ext cx="5212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Importaciones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532120" y="54864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805AD5"/>
          </a:solidFill>
        </p:spPr>
      </p:sp>
      <p:sp>
        <p:nvSpPr>
          <p:cNvPr id="5" name="Text 3"/>
          <p:cNvSpPr/>
          <p:nvPr/>
        </p:nvSpPr>
        <p:spPr>
          <a:xfrm>
            <a:off x="5532120" y="73152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Relojería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269480" y="54864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B07219"/>
          </a:solidFill>
        </p:spPr>
      </p:sp>
      <p:sp>
        <p:nvSpPr>
          <p:cNvPr id="7" name="Text 5"/>
          <p:cNvSpPr/>
          <p:nvPr/>
        </p:nvSpPr>
        <p:spPr>
          <a:xfrm>
            <a:off x="7269480" y="73152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475488"/>
            <a:ext cx="8686800" cy="274320"/>
          </a:xfrm>
          <a:prstGeom prst="roundRect">
            <a:avLst>
              <a:gd name="adj" fmla="val 13333"/>
            </a:avLst>
          </a:prstGeom>
          <a:solidFill>
            <a:srgbClr val="2B6CB0"/>
          </a:solidFill>
        </p:spPr>
      </p:sp>
      <p:sp>
        <p:nvSpPr>
          <p:cNvPr id="9" name="Text 7"/>
          <p:cNvSpPr/>
          <p:nvPr/>
        </p:nvSpPr>
        <p:spPr>
          <a:xfrm>
            <a:off x="365760" y="502920"/>
            <a:ext cx="84124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📄 LineaEspera1RelojeriaGrafico.java   ·   Líneas 40 – 50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841248"/>
            <a:ext cx="8686800" cy="822960"/>
          </a:xfrm>
          <a:prstGeom prst="roundRect">
            <a:avLst>
              <a:gd name="adj" fmla="val 4444"/>
            </a:avLst>
          </a:prstGeom>
          <a:solidFill>
            <a:srgbClr val="F0FFF4"/>
          </a:solidFill>
        </p:spPr>
      </p:sp>
      <p:sp>
        <p:nvSpPr>
          <p:cNvPr id="11" name="Text 9"/>
          <p:cNvSpPr/>
          <p:nvPr/>
        </p:nvSpPr>
        <p:spPr>
          <a:xfrm>
            <a:off x="365760" y="886968"/>
            <a:ext cx="841248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import javax.swing.*;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import java.awt.*;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import java.awt.geom.*;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import java.util.*;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2880" y="4479925"/>
            <a:ext cx="8595360" cy="29337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Swing, AWT geométrico (Path2D, Ellipse2D), Random, ArrayDeque. Relación: 4.1–4.2.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600" y="4773168"/>
            <a:ext cx="80467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José Ángel Gómez Rincón | 241260049 | Tema 4 · Actividad 4.2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366760" y="4773168"/>
            <a:ext cx="457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47</a:t>
            </a:r>
            <a:endParaRPr lang="en-US" sz="900" dirty="0"/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843280"/>
            <a:ext cx="8667750" cy="363601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228600" y="64008"/>
            <a:ext cx="5212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Parámetros, exponencial, erlangC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532120" y="54864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805AD5"/>
          </a:solidFill>
        </p:spPr>
      </p:sp>
      <p:sp>
        <p:nvSpPr>
          <p:cNvPr id="5" name="Text 3"/>
          <p:cNvSpPr/>
          <p:nvPr/>
        </p:nvSpPr>
        <p:spPr>
          <a:xfrm>
            <a:off x="5532120" y="73152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Relojería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269480" y="54864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B07219"/>
          </a:solidFill>
        </p:spPr>
      </p:sp>
      <p:sp>
        <p:nvSpPr>
          <p:cNvPr id="7" name="Text 5"/>
          <p:cNvSpPr/>
          <p:nvPr/>
        </p:nvSpPr>
        <p:spPr>
          <a:xfrm>
            <a:off x="7269480" y="73152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475488"/>
            <a:ext cx="8686800" cy="274320"/>
          </a:xfrm>
          <a:prstGeom prst="roundRect">
            <a:avLst>
              <a:gd name="adj" fmla="val 13333"/>
            </a:avLst>
          </a:prstGeom>
          <a:solidFill>
            <a:srgbClr val="2B6CB0"/>
          </a:solidFill>
        </p:spPr>
      </p:sp>
      <p:sp>
        <p:nvSpPr>
          <p:cNvPr id="9" name="Text 7"/>
          <p:cNvSpPr/>
          <p:nvPr/>
        </p:nvSpPr>
        <p:spPr>
          <a:xfrm>
            <a:off x="365760" y="502920"/>
            <a:ext cx="84124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📄 LineaEspera1RelojeriaGrafico.java   ·   Líneas 55 – 150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841248"/>
            <a:ext cx="8686800" cy="658368"/>
          </a:xfrm>
          <a:prstGeom prst="roundRect">
            <a:avLst>
              <a:gd name="adj" fmla="val 5556"/>
            </a:avLst>
          </a:prstGeom>
          <a:solidFill>
            <a:srgbClr val="F0FFF4"/>
          </a:solidFill>
        </p:spPr>
      </p:sp>
      <p:sp>
        <p:nvSpPr>
          <p:cNvPr id="11" name="Text 9"/>
          <p:cNvSpPr/>
          <p:nvPr/>
        </p:nvSpPr>
        <p:spPr>
          <a:xfrm>
            <a:off x="365760" y="886968"/>
            <a:ext cx="8412480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TASA_LLEGADA=2.0; TASA_SERVICIO=2.5;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static double exponencial(double tasa)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static double[] erlangC(int c, ...)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0040" y="4499610"/>
            <a:ext cx="8595360" cy="27368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M/M/1 y validación teórica. Relación: 4.3.1 y 4.4.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600" y="4773168"/>
            <a:ext cx="80467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José Ángel Gómez Rincón | 241260049 | Tema 4 · Actividad 4.2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366760" y="4773168"/>
            <a:ext cx="457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48</a:t>
            </a:r>
            <a:endParaRPr lang="en-US" sz="900" dirty="0"/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945" y="811530"/>
            <a:ext cx="8756650" cy="3687445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Imagen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635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228600" y="64008"/>
            <a:ext cx="5212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Cliente y Modelo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532120" y="54864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805AD5"/>
          </a:solidFill>
        </p:spPr>
      </p:sp>
      <p:sp>
        <p:nvSpPr>
          <p:cNvPr id="5" name="Text 3"/>
          <p:cNvSpPr/>
          <p:nvPr/>
        </p:nvSpPr>
        <p:spPr>
          <a:xfrm>
            <a:off x="5532120" y="73152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Relojería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269480" y="54864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B07219"/>
          </a:solidFill>
        </p:spPr>
      </p:sp>
      <p:sp>
        <p:nvSpPr>
          <p:cNvPr id="7" name="Text 5"/>
          <p:cNvSpPr/>
          <p:nvPr/>
        </p:nvSpPr>
        <p:spPr>
          <a:xfrm>
            <a:off x="7269480" y="73152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475488"/>
            <a:ext cx="8686800" cy="274320"/>
          </a:xfrm>
          <a:prstGeom prst="roundRect">
            <a:avLst>
              <a:gd name="adj" fmla="val 13333"/>
            </a:avLst>
          </a:prstGeom>
          <a:solidFill>
            <a:srgbClr val="2B6CB0"/>
          </a:solidFill>
        </p:spPr>
      </p:sp>
      <p:sp>
        <p:nvSpPr>
          <p:cNvPr id="9" name="Text 7"/>
          <p:cNvSpPr/>
          <p:nvPr/>
        </p:nvSpPr>
        <p:spPr>
          <a:xfrm>
            <a:off x="365760" y="502920"/>
            <a:ext cx="84124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📄 LineaEspera1RelojeriaGrafico.java   ·   Líneas 180 – 330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841248"/>
            <a:ext cx="8686800" cy="822960"/>
          </a:xfrm>
          <a:prstGeom prst="roundRect">
            <a:avLst>
              <a:gd name="adj" fmla="val 4444"/>
            </a:avLst>
          </a:prstGeom>
          <a:solidFill>
            <a:srgbClr val="F0FFF4"/>
          </a:solidFill>
        </p:spPr>
      </p:sp>
      <p:sp>
        <p:nvSpPr>
          <p:cNvPr id="11" name="Text 9"/>
          <p:cNvSpPr/>
          <p:nvPr/>
        </p:nvSpPr>
        <p:spPr>
          <a:xfrm>
            <a:off x="365760" y="886968"/>
            <a:ext cx="841248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static class Cliente { ...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static class Modelo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llegada(), salida(k), avanzar(), terminado()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" y="4479925"/>
            <a:ext cx="8595360" cy="29337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Motor de eventos idéntico al de Python. Relación: 4.1–4.2, 4.3.1.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600" y="4773168"/>
            <a:ext cx="80467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José Ángel Gómez Rincón | 241260049 | Tema 4 · Actividad 4.2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366760" y="4773168"/>
            <a:ext cx="457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49</a:t>
            </a:r>
            <a:endParaRPr lang="en-US" sz="900" dirty="0"/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878840"/>
            <a:ext cx="8637905" cy="3615055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228600" y="64008"/>
            <a:ext cx="5212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 Swing — lienzo y gráficas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532120" y="54864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805AD5"/>
          </a:solidFill>
        </p:spPr>
      </p:sp>
      <p:sp>
        <p:nvSpPr>
          <p:cNvPr id="5" name="Text 3"/>
          <p:cNvSpPr/>
          <p:nvPr/>
        </p:nvSpPr>
        <p:spPr>
          <a:xfrm>
            <a:off x="5532120" y="73152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Relojería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269480" y="54864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B07219"/>
          </a:solidFill>
        </p:spPr>
      </p:sp>
      <p:sp>
        <p:nvSpPr>
          <p:cNvPr id="7" name="Text 5"/>
          <p:cNvSpPr/>
          <p:nvPr/>
        </p:nvSpPr>
        <p:spPr>
          <a:xfrm>
            <a:off x="7269480" y="73152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475488"/>
            <a:ext cx="8686800" cy="274320"/>
          </a:xfrm>
          <a:prstGeom prst="roundRect">
            <a:avLst>
              <a:gd name="adj" fmla="val 13333"/>
            </a:avLst>
          </a:prstGeom>
          <a:solidFill>
            <a:srgbClr val="2B6CB0"/>
          </a:solidFill>
        </p:spPr>
      </p:sp>
      <p:sp>
        <p:nvSpPr>
          <p:cNvPr id="9" name="Text 7"/>
          <p:cNvSpPr/>
          <p:nvPr/>
        </p:nvSpPr>
        <p:spPr>
          <a:xfrm>
            <a:off x="365760" y="502920"/>
            <a:ext cx="84124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📄 LineaEspera1RelojeriaGrafico.java   ·   Líneas 340 – 800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841248"/>
            <a:ext cx="8686800" cy="822960"/>
          </a:xfrm>
          <a:prstGeom prst="roundRect">
            <a:avLst>
              <a:gd name="adj" fmla="val 4444"/>
            </a:avLst>
          </a:prstGeom>
          <a:solidFill>
            <a:srgbClr val="F0FFF4"/>
          </a:solidFill>
        </p:spPr>
      </p:sp>
      <p:sp>
        <p:nvSpPr>
          <p:cNvPr id="11" name="Text 9"/>
          <p:cNvSpPr/>
          <p:nvPr/>
        </p:nvSpPr>
        <p:spPr>
          <a:xfrm>
            <a:off x="365760" y="886968"/>
            <a:ext cx="841248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static class App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Panel de animación, JTextArea stats,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panel de gráficas, Timer 30 ms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4479925"/>
            <a:ext cx="8595360" cy="29337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Interfaz completa con contraste sim/teoría. Relación: 4.2 y 4.4.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600" y="4773168"/>
            <a:ext cx="80467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José Ángel Gómez Rincón | 241260049 | Tema 4 · Actividad 4.2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366760" y="4773168"/>
            <a:ext cx="457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</a:t>
            </a:r>
            <a:endParaRPr lang="en-US" sz="900" dirty="0"/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9235" y="798195"/>
            <a:ext cx="8645525" cy="3926205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Imagen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3365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228600" y="64008"/>
            <a:ext cx="5212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Ejecución del programa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532120" y="54864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805AD5"/>
          </a:solidFill>
        </p:spPr>
      </p:sp>
      <p:sp>
        <p:nvSpPr>
          <p:cNvPr id="5" name="Text 3"/>
          <p:cNvSpPr/>
          <p:nvPr/>
        </p:nvSpPr>
        <p:spPr>
          <a:xfrm>
            <a:off x="5532120" y="73152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Relojería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269480" y="54864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B07219"/>
          </a:solidFill>
        </p:spPr>
      </p:sp>
      <p:sp>
        <p:nvSpPr>
          <p:cNvPr id="7" name="Text 5"/>
          <p:cNvSpPr/>
          <p:nvPr/>
        </p:nvSpPr>
        <p:spPr>
          <a:xfrm>
            <a:off x="7269480" y="73152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502920"/>
            <a:ext cx="8686800" cy="320040"/>
          </a:xfrm>
          <a:prstGeom prst="roundRect">
            <a:avLst>
              <a:gd name="adj" fmla="val 11429"/>
            </a:avLst>
          </a:prstGeom>
          <a:solidFill>
            <a:srgbClr val="C53030"/>
          </a:solidFill>
        </p:spPr>
      </p:sp>
      <p:sp>
        <p:nvSpPr>
          <p:cNvPr id="9" name="Text 7"/>
          <p:cNvSpPr/>
          <p:nvPr/>
        </p:nvSpPr>
        <p:spPr>
          <a:xfrm>
            <a:off x="365760" y="530352"/>
            <a:ext cx="84124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  Ejecución — LineaEspera1RelojeriaGrafico.java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" y="960120"/>
            <a:ext cx="8503920" cy="30099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javac LineaEspera1RelojeriaGrafico.java &amp;&amp; java LineaEspera1RelojeriaGrafico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1691640"/>
            <a:ext cx="7680960" cy="2651760"/>
          </a:xfrm>
          <a:prstGeom prst="roundRect">
            <a:avLst>
              <a:gd name="adj" fmla="val 2759"/>
            </a:avLst>
          </a:prstGeom>
          <a:solidFill>
            <a:srgbClr val="EDF2F7"/>
          </a:solidFill>
          <a:ln w="19050">
            <a:solidFill>
              <a:srgbClr val="A0AEC0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731520" y="2651760"/>
            <a:ext cx="76809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Inserta aquí la captura de pantalla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 la ejecución de este archivo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28600" y="4773168"/>
            <a:ext cx="80467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José Ángel Gómez Rincón | 241260049 | Tema 4 · Actividad 4.2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366760" y="4773168"/>
            <a:ext cx="457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51</a:t>
            </a:r>
            <a:endParaRPr lang="en-US" sz="900" dirty="0"/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0200" y="1249045"/>
            <a:ext cx="8482965" cy="3524885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6DC3"/>
          </a:solidFill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linea_espera_1_relojeria.R</a:t>
            </a:r>
            <a:endParaRPr lang="en-US" sz="14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228600" y="64008"/>
            <a:ext cx="5212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Configuración y generadores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532120" y="54864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805AD5"/>
          </a:solidFill>
        </p:spPr>
      </p:sp>
      <p:sp>
        <p:nvSpPr>
          <p:cNvPr id="5" name="Text 3"/>
          <p:cNvSpPr/>
          <p:nvPr/>
        </p:nvSpPr>
        <p:spPr>
          <a:xfrm>
            <a:off x="5532120" y="73152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Relojería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269480" y="54864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276DC3"/>
          </a:solidFill>
        </p:spPr>
      </p:sp>
      <p:sp>
        <p:nvSpPr>
          <p:cNvPr id="7" name="Text 5"/>
          <p:cNvSpPr/>
          <p:nvPr/>
        </p:nvSpPr>
        <p:spPr>
          <a:xfrm>
            <a:off x="7269480" y="73152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475488"/>
            <a:ext cx="8686800" cy="274320"/>
          </a:xfrm>
          <a:prstGeom prst="roundRect">
            <a:avLst>
              <a:gd name="adj" fmla="val 13333"/>
            </a:avLst>
          </a:prstGeom>
          <a:solidFill>
            <a:srgbClr val="2B6CB0"/>
          </a:solidFill>
        </p:spPr>
      </p:sp>
      <p:sp>
        <p:nvSpPr>
          <p:cNvPr id="9" name="Text 7"/>
          <p:cNvSpPr/>
          <p:nvPr/>
        </p:nvSpPr>
        <p:spPr>
          <a:xfrm>
            <a:off x="365760" y="502920"/>
            <a:ext cx="84124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📄 linea_espera_1_relojeria.R   ·   Líneas 20 – 55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841248"/>
            <a:ext cx="8686800" cy="658368"/>
          </a:xfrm>
          <a:prstGeom prst="roundRect">
            <a:avLst>
              <a:gd name="adj" fmla="val 5556"/>
            </a:avLst>
          </a:prstGeom>
          <a:solidFill>
            <a:srgbClr val="F0FFF4"/>
          </a:solidFill>
        </p:spPr>
      </p:sp>
      <p:sp>
        <p:nvSpPr>
          <p:cNvPr id="11" name="Text 9"/>
          <p:cNvSpPr/>
          <p:nvPr/>
        </p:nvSpPr>
        <p:spPr>
          <a:xfrm>
            <a:off x="365760" y="886968"/>
            <a:ext cx="8412480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TASA_LLEGADA &lt;- 2.0; TASA_SERVICIO &lt;- 2.5; C &lt;- 1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exponencial &lt;- function(tasa) -log(1-runif(1))/tasa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erlang_c &lt;- function(nc, ...)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" y="4517390"/>
            <a:ext cx="8595360" cy="25590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Parámetros M/M/1 y fórmulas teóricas. Relación: 4.3.1 y 4.4.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600" y="4773168"/>
            <a:ext cx="80467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José Ángel Gómez Rincón | 241260049 | Tema 4 · Actividad 4.2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366760" y="4773168"/>
            <a:ext cx="457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53</a:t>
            </a:r>
            <a:endParaRPr lang="en-US" sz="900" dirty="0"/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0980" y="800735"/>
            <a:ext cx="8687435" cy="357505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228600" y="64008"/>
            <a:ext cx="5212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simular() e informe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532120" y="54864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805AD5"/>
          </a:solidFill>
        </p:spPr>
      </p:sp>
      <p:sp>
        <p:nvSpPr>
          <p:cNvPr id="5" name="Text 3"/>
          <p:cNvSpPr/>
          <p:nvPr/>
        </p:nvSpPr>
        <p:spPr>
          <a:xfrm>
            <a:off x="5532120" y="73152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Relojería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269480" y="54864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276DC3"/>
          </a:solidFill>
        </p:spPr>
      </p:sp>
      <p:sp>
        <p:nvSpPr>
          <p:cNvPr id="7" name="Text 5"/>
          <p:cNvSpPr/>
          <p:nvPr/>
        </p:nvSpPr>
        <p:spPr>
          <a:xfrm>
            <a:off x="7269480" y="73152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475488"/>
            <a:ext cx="8686800" cy="274320"/>
          </a:xfrm>
          <a:prstGeom prst="roundRect">
            <a:avLst>
              <a:gd name="adj" fmla="val 13333"/>
            </a:avLst>
          </a:prstGeom>
          <a:solidFill>
            <a:srgbClr val="2B6CB0"/>
          </a:solidFill>
        </p:spPr>
      </p:sp>
      <p:sp>
        <p:nvSpPr>
          <p:cNvPr id="9" name="Text 7"/>
          <p:cNvSpPr/>
          <p:nvPr/>
        </p:nvSpPr>
        <p:spPr>
          <a:xfrm>
            <a:off x="365760" y="502920"/>
            <a:ext cx="84124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📄 linea_espera_1_relojeria.R   ·   Líneas 57 – 159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841248"/>
            <a:ext cx="8686800" cy="987552"/>
          </a:xfrm>
          <a:prstGeom prst="roundRect">
            <a:avLst>
              <a:gd name="adj" fmla="val 3704"/>
            </a:avLst>
          </a:prstGeom>
          <a:solidFill>
            <a:srgbClr val="F0FFF4"/>
          </a:solidFill>
        </p:spPr>
      </p:sp>
      <p:sp>
        <p:nvSpPr>
          <p:cNvPr id="11" name="Text 9"/>
          <p:cNvSpPr/>
          <p:nvPr/>
        </p:nvSpPr>
        <p:spPr>
          <a:xfrm>
            <a:off x="365760" y="886968"/>
            <a:ext cx="84124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simular &lt;- function(nc)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# eventos llegada / fin servicio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# imprime avance cada 200 atendidos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tabla Simulación vs Teoría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5410" y="4517390"/>
            <a:ext cx="8595360" cy="25590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Simulación por eventos y contraste con teoría. Relación: 4.3.1 y 4.4.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600" y="4773168"/>
            <a:ext cx="80467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José Ángel Gómez Rincón | 241260049 | Tema 4 · Actividad 4.2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366760" y="4773168"/>
            <a:ext cx="457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54</a:t>
            </a:r>
            <a:endParaRPr lang="en-US" sz="900" dirty="0"/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7965" y="814705"/>
            <a:ext cx="8620760" cy="36957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228600" y="64008"/>
            <a:ext cx="5212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Ejecución del programa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532120" y="54864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805AD5"/>
          </a:solidFill>
        </p:spPr>
      </p:sp>
      <p:sp>
        <p:nvSpPr>
          <p:cNvPr id="5" name="Text 3"/>
          <p:cNvSpPr/>
          <p:nvPr/>
        </p:nvSpPr>
        <p:spPr>
          <a:xfrm>
            <a:off x="5532120" y="73152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Relojería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269480" y="54864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276DC3"/>
          </a:solidFill>
        </p:spPr>
      </p:sp>
      <p:sp>
        <p:nvSpPr>
          <p:cNvPr id="7" name="Text 5"/>
          <p:cNvSpPr/>
          <p:nvPr/>
        </p:nvSpPr>
        <p:spPr>
          <a:xfrm>
            <a:off x="7269480" y="73152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502920"/>
            <a:ext cx="8686800" cy="320040"/>
          </a:xfrm>
          <a:prstGeom prst="roundRect">
            <a:avLst>
              <a:gd name="adj" fmla="val 11429"/>
            </a:avLst>
          </a:prstGeom>
          <a:solidFill>
            <a:srgbClr val="C53030"/>
          </a:solidFill>
        </p:spPr>
      </p:sp>
      <p:sp>
        <p:nvSpPr>
          <p:cNvPr id="9" name="Text 7"/>
          <p:cNvSpPr/>
          <p:nvPr/>
        </p:nvSpPr>
        <p:spPr>
          <a:xfrm>
            <a:off x="365760" y="530352"/>
            <a:ext cx="84124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  Ejecución — linea_espera_1_relojeria.R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859155"/>
            <a:ext cx="8503920" cy="2476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Rscript linea_espera_1_relojeria.R — avance en consola y tabla Wq/W/Lq/ρ.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1691640"/>
            <a:ext cx="7680960" cy="2651760"/>
          </a:xfrm>
          <a:prstGeom prst="roundRect">
            <a:avLst>
              <a:gd name="adj" fmla="val 2759"/>
            </a:avLst>
          </a:prstGeom>
          <a:solidFill>
            <a:srgbClr val="EDF2F7"/>
          </a:solidFill>
          <a:ln w="19050">
            <a:solidFill>
              <a:srgbClr val="A0AEC0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731520" y="2651760"/>
            <a:ext cx="76809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Inserta aquí la captura de pantalla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 la ejecución de este archivo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28600" y="4773168"/>
            <a:ext cx="80467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José Ángel Gómez Rincón | 241260049 | Tema 4 · Actividad 4.2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366760" y="4773168"/>
            <a:ext cx="457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55</a:t>
            </a:r>
            <a:endParaRPr lang="en-US" sz="900" dirty="0"/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8260" y="1109345"/>
            <a:ext cx="9144000" cy="360299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D6B20"/>
          </a:solidFill>
        </p:spPr>
      </p:sp>
      <p:sp>
        <p:nvSpPr>
          <p:cNvPr id="3" name="Text 1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EJEMPLO 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LÍNEA DE ESPERA 2 — Puerto (M/M/c)</a:t>
            </a:r>
            <a:endParaRPr lang="en-US" sz="24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776AB"/>
          </a:solidFill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linea_espera_2_puerto_grafico.py</a:t>
            </a:r>
            <a:endParaRPr lang="en-US" sz="14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228600" y="64008"/>
            <a:ext cx="5212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Importaciones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532120" y="54864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DD6B20"/>
          </a:solidFill>
        </p:spPr>
      </p:sp>
      <p:sp>
        <p:nvSpPr>
          <p:cNvPr id="5" name="Text 3"/>
          <p:cNvSpPr/>
          <p:nvPr/>
        </p:nvSpPr>
        <p:spPr>
          <a:xfrm>
            <a:off x="5532120" y="73152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Puerto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269480" y="54864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3776AB"/>
          </a:solidFill>
        </p:spPr>
      </p:sp>
      <p:sp>
        <p:nvSpPr>
          <p:cNvPr id="7" name="Text 5"/>
          <p:cNvSpPr/>
          <p:nvPr/>
        </p:nvSpPr>
        <p:spPr>
          <a:xfrm>
            <a:off x="7269480" y="73152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475488"/>
            <a:ext cx="8686800" cy="274320"/>
          </a:xfrm>
          <a:prstGeom prst="roundRect">
            <a:avLst>
              <a:gd name="adj" fmla="val 13333"/>
            </a:avLst>
          </a:prstGeom>
          <a:solidFill>
            <a:srgbClr val="2B6CB0"/>
          </a:solidFill>
        </p:spPr>
      </p:sp>
      <p:sp>
        <p:nvSpPr>
          <p:cNvPr id="9" name="Text 7"/>
          <p:cNvSpPr/>
          <p:nvPr/>
        </p:nvSpPr>
        <p:spPr>
          <a:xfrm>
            <a:off x="365760" y="502920"/>
            <a:ext cx="84124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📄 linea_espera_2_puerto_grafico.py   ·   Líneas 4</a:t>
            </a:r>
            <a:r>
              <a:rPr lang="es-MX" alt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– 5</a:t>
            </a:r>
            <a:r>
              <a:rPr lang="es-MX" alt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s-MX" altLang="en-US" sz="11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28600" y="841248"/>
            <a:ext cx="8686800" cy="493776"/>
          </a:xfrm>
          <a:prstGeom prst="roundRect">
            <a:avLst>
              <a:gd name="adj" fmla="val 7407"/>
            </a:avLst>
          </a:prstGeom>
          <a:solidFill>
            <a:srgbClr val="F0FFF4"/>
          </a:solidFill>
        </p:spPr>
      </p:sp>
      <p:sp>
        <p:nvSpPr>
          <p:cNvPr id="11" name="Text 9"/>
          <p:cNvSpPr/>
          <p:nvPr/>
        </p:nvSpPr>
        <p:spPr>
          <a:xfrm>
            <a:off x="365760" y="886968"/>
            <a:ext cx="841248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import math, random, time, tkinter as tk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from collections import deque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28600" y="4519930"/>
            <a:ext cx="8595360" cy="25336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Mismas herramientas que en Relojería; el modelo se generaliza a c servidores. Relación: 4.1–4.2.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600" y="4773168"/>
            <a:ext cx="80467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José Ángel Gómez Rincón | 241260049 | Tema 4 · Actividad 4.2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366760" y="4773168"/>
            <a:ext cx="457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58</a:t>
            </a:r>
            <a:endParaRPr lang="en-US" sz="900" dirty="0"/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4325" y="896620"/>
            <a:ext cx="8557260" cy="35179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228600" y="64008"/>
            <a:ext cx="5212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Parámetros M/M/c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532120" y="54864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DD6B20"/>
          </a:solidFill>
        </p:spPr>
      </p:sp>
      <p:sp>
        <p:nvSpPr>
          <p:cNvPr id="5" name="Text 3"/>
          <p:cNvSpPr/>
          <p:nvPr/>
        </p:nvSpPr>
        <p:spPr>
          <a:xfrm>
            <a:off x="5532120" y="73152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Puerto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269480" y="54864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3776AB"/>
          </a:solidFill>
        </p:spPr>
      </p:sp>
      <p:sp>
        <p:nvSpPr>
          <p:cNvPr id="7" name="Text 5"/>
          <p:cNvSpPr/>
          <p:nvPr/>
        </p:nvSpPr>
        <p:spPr>
          <a:xfrm>
            <a:off x="7269480" y="73152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475488"/>
            <a:ext cx="8686800" cy="274320"/>
          </a:xfrm>
          <a:prstGeom prst="roundRect">
            <a:avLst>
              <a:gd name="adj" fmla="val 13333"/>
            </a:avLst>
          </a:prstGeom>
          <a:solidFill>
            <a:srgbClr val="2B6CB0"/>
          </a:solidFill>
        </p:spPr>
      </p:sp>
      <p:sp>
        <p:nvSpPr>
          <p:cNvPr id="9" name="Text 7"/>
          <p:cNvSpPr/>
          <p:nvPr/>
        </p:nvSpPr>
        <p:spPr>
          <a:xfrm>
            <a:off x="365760" y="502920"/>
            <a:ext cx="84124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📄 linea_espera_2_puerto_grafico.py   ·   Líneas 54 – 75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841248"/>
            <a:ext cx="8686800" cy="658368"/>
          </a:xfrm>
          <a:prstGeom prst="roundRect">
            <a:avLst>
              <a:gd name="adj" fmla="val 5556"/>
            </a:avLst>
          </a:prstGeom>
          <a:solidFill>
            <a:srgbClr val="F0FFF4"/>
          </a:solidFill>
        </p:spPr>
      </p:sp>
      <p:sp>
        <p:nvSpPr>
          <p:cNvPr id="11" name="Text 9"/>
          <p:cNvSpPr/>
          <p:nvPr/>
        </p:nvSpPr>
        <p:spPr>
          <a:xfrm>
            <a:off x="365760" y="886968"/>
            <a:ext cx="8412480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TASA_LLEGADA=1.0, TASA_SERVICIO=0.4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SERVIDORES_INICIAL=3, SERVIDORES_EDITABLES=True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FORMA_CLIENTE="barco"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0040" y="4554220"/>
            <a:ext cx="8595360" cy="21907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λ=1 barco/h, μ=0.4 por muelle, c editable. Relación: 4.3.1 multi-servidor.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600" y="4773168"/>
            <a:ext cx="80467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José Ángel Gómez Rincón | 241260049 | Tema 4 · Actividad 4.2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366760" y="4773168"/>
            <a:ext cx="457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59</a:t>
            </a:r>
            <a:endParaRPr lang="en-US" sz="900" dirty="0"/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4010" y="848360"/>
            <a:ext cx="8569325" cy="367919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228600" y="64008"/>
            <a:ext cx="5212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exponencial y erlang_c (c)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532120" y="54864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DD6B20"/>
          </a:solidFill>
        </p:spPr>
      </p:sp>
      <p:sp>
        <p:nvSpPr>
          <p:cNvPr id="5" name="Text 3"/>
          <p:cNvSpPr/>
          <p:nvPr/>
        </p:nvSpPr>
        <p:spPr>
          <a:xfrm>
            <a:off x="5532120" y="73152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Puerto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269480" y="54864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3776AB"/>
          </a:solidFill>
        </p:spPr>
      </p:sp>
      <p:sp>
        <p:nvSpPr>
          <p:cNvPr id="7" name="Text 5"/>
          <p:cNvSpPr/>
          <p:nvPr/>
        </p:nvSpPr>
        <p:spPr>
          <a:xfrm>
            <a:off x="7269480" y="73152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475488"/>
            <a:ext cx="8686800" cy="274320"/>
          </a:xfrm>
          <a:prstGeom prst="roundRect">
            <a:avLst>
              <a:gd name="adj" fmla="val 13333"/>
            </a:avLst>
          </a:prstGeom>
          <a:solidFill>
            <a:srgbClr val="2B6CB0"/>
          </a:solidFill>
        </p:spPr>
      </p:sp>
      <p:sp>
        <p:nvSpPr>
          <p:cNvPr id="9" name="Text 7"/>
          <p:cNvSpPr/>
          <p:nvPr/>
        </p:nvSpPr>
        <p:spPr>
          <a:xfrm>
            <a:off x="365760" y="502920"/>
            <a:ext cx="84124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📄 linea_espera_2_puerto_grafico.py   ·   Líneas 78 – 125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841248"/>
            <a:ext cx="8686800" cy="658368"/>
          </a:xfrm>
          <a:prstGeom prst="roundRect">
            <a:avLst>
              <a:gd name="adj" fmla="val 5556"/>
            </a:avLst>
          </a:prstGeom>
          <a:solidFill>
            <a:srgbClr val="F0FFF4"/>
          </a:solidFill>
        </p:spPr>
      </p:sp>
      <p:sp>
        <p:nvSpPr>
          <p:cNvPr id="11" name="Text 9"/>
          <p:cNvSpPr/>
          <p:nvPr/>
        </p:nvSpPr>
        <p:spPr>
          <a:xfrm>
            <a:off x="365760" y="886968"/>
            <a:ext cx="8412480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def exponencial(tasa): ...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def erlang_c(c, λ, μ):  # Erlang C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prob_esperar, Lq, Wq, W, rho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2880" y="4479925"/>
            <a:ext cx="8595360" cy="29337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Teoría M/M/c para validar al cambiar el número de muelles. Relación: 4.4.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600" y="4773168"/>
            <a:ext cx="80467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José Ángel Gómez Rincón | 241260049 | Tema 4 · Actividad 4.2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366760" y="4773168"/>
            <a:ext cx="457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</a:t>
            </a:r>
            <a:endParaRPr lang="en-US" sz="900" dirty="0"/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8760" y="865505"/>
            <a:ext cx="8604250" cy="361315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228600" y="64008"/>
            <a:ext cx="5212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Modelo multi-servidor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532120" y="54864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DD6B20"/>
          </a:solidFill>
        </p:spPr>
      </p:sp>
      <p:sp>
        <p:nvSpPr>
          <p:cNvPr id="5" name="Text 3"/>
          <p:cNvSpPr/>
          <p:nvPr/>
        </p:nvSpPr>
        <p:spPr>
          <a:xfrm>
            <a:off x="5532120" y="73152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Puerto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269480" y="54864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3776AB"/>
          </a:solidFill>
        </p:spPr>
      </p:sp>
      <p:sp>
        <p:nvSpPr>
          <p:cNvPr id="7" name="Text 5"/>
          <p:cNvSpPr/>
          <p:nvPr/>
        </p:nvSpPr>
        <p:spPr>
          <a:xfrm>
            <a:off x="7269480" y="73152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475488"/>
            <a:ext cx="8686800" cy="274320"/>
          </a:xfrm>
          <a:prstGeom prst="roundRect">
            <a:avLst>
              <a:gd name="adj" fmla="val 13333"/>
            </a:avLst>
          </a:prstGeom>
          <a:solidFill>
            <a:srgbClr val="2B6CB0"/>
          </a:solidFill>
        </p:spPr>
      </p:sp>
      <p:sp>
        <p:nvSpPr>
          <p:cNvPr id="9" name="Text 7"/>
          <p:cNvSpPr/>
          <p:nvPr/>
        </p:nvSpPr>
        <p:spPr>
          <a:xfrm>
            <a:off x="365760" y="502920"/>
            <a:ext cx="84124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📄 linea_espera_2_puerto_grafico.py   ·   Líneas 150 – 300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841248"/>
            <a:ext cx="8686800" cy="822960"/>
          </a:xfrm>
          <a:prstGeom prst="roundRect">
            <a:avLst>
              <a:gd name="adj" fmla="val 4444"/>
            </a:avLst>
          </a:prstGeom>
          <a:solidFill>
            <a:srgbClr val="F0FFF4"/>
          </a:solidFill>
        </p:spPr>
      </p:sp>
      <p:sp>
        <p:nvSpPr>
          <p:cNvPr id="11" name="Text 9"/>
          <p:cNvSpPr/>
          <p:nvPr/>
        </p:nvSpPr>
        <p:spPr>
          <a:xfrm>
            <a:off x="365760" y="886968"/>
            <a:ext cx="841248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class Modelo: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servidores[c], fin[c], cola FIFO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_llegada asigna al primer libre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_salida toma de la cola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2880" y="4553585"/>
            <a:ext cx="8595360" cy="21971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Motor de eventos con c muelles y una sola fila. Relación: 4.3.1.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600" y="4773168"/>
            <a:ext cx="80467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José Ángel Gómez Rincón | 241260049 | Tema 4 · Actividad 4.2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366760" y="4773168"/>
            <a:ext cx="457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61</a:t>
            </a:r>
            <a:endParaRPr lang="en-US" sz="900" dirty="0"/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0035" y="814070"/>
            <a:ext cx="8589645" cy="36830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Imagen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228600" y="64008"/>
            <a:ext cx="5212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 — muelles y barcos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532120" y="54864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DD6B20"/>
          </a:solidFill>
        </p:spPr>
      </p:sp>
      <p:sp>
        <p:nvSpPr>
          <p:cNvPr id="5" name="Text 3"/>
          <p:cNvSpPr/>
          <p:nvPr/>
        </p:nvSpPr>
        <p:spPr>
          <a:xfrm>
            <a:off x="5532120" y="73152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Puerto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269480" y="54864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3776AB"/>
          </a:solidFill>
        </p:spPr>
      </p:sp>
      <p:sp>
        <p:nvSpPr>
          <p:cNvPr id="7" name="Text 5"/>
          <p:cNvSpPr/>
          <p:nvPr/>
        </p:nvSpPr>
        <p:spPr>
          <a:xfrm>
            <a:off x="7269480" y="73152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475488"/>
            <a:ext cx="8686800" cy="274320"/>
          </a:xfrm>
          <a:prstGeom prst="roundRect">
            <a:avLst>
              <a:gd name="adj" fmla="val 13333"/>
            </a:avLst>
          </a:prstGeom>
          <a:solidFill>
            <a:srgbClr val="2B6CB0"/>
          </a:solidFill>
        </p:spPr>
      </p:sp>
      <p:sp>
        <p:nvSpPr>
          <p:cNvPr id="9" name="Text 7"/>
          <p:cNvSpPr/>
          <p:nvPr/>
        </p:nvSpPr>
        <p:spPr>
          <a:xfrm>
            <a:off x="365760" y="502920"/>
            <a:ext cx="84124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📄 linea_espera_2_puerto_grafico.py   ·   Líneas 310 – 650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841248"/>
            <a:ext cx="8686800" cy="493776"/>
          </a:xfrm>
          <a:prstGeom prst="roundRect">
            <a:avLst>
              <a:gd name="adj" fmla="val 7407"/>
            </a:avLst>
          </a:prstGeom>
          <a:solidFill>
            <a:srgbClr val="F0FFF4"/>
          </a:solidFill>
        </p:spPr>
      </p:sp>
      <p:sp>
        <p:nvSpPr>
          <p:cNvPr id="11" name="Text 9"/>
          <p:cNvSpPr/>
          <p:nvPr/>
        </p:nvSpPr>
        <p:spPr>
          <a:xfrm>
            <a:off x="365760" y="886968"/>
            <a:ext cx="841248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App: Spinbox de muelles, animación de barcos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stats vs teoría, gráficas de cola y Wq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28600" y="4518660"/>
            <a:ext cx="8595360" cy="25463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Interfaz para experimentar con c. Relación: 4.2 y 4.4.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600" y="4773168"/>
            <a:ext cx="80467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José Ángel Gómez Rincón | 241260049 | Tema 4 · Actividad 4.2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366760" y="4773168"/>
            <a:ext cx="457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62</a:t>
            </a:r>
            <a:endParaRPr lang="en-US" sz="900" dirty="0"/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535" y="887730"/>
            <a:ext cx="8695690" cy="382524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Imagen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35"/>
            <a:ext cx="9144000" cy="514223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Imagen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635" cy="5142865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228600" y="64008"/>
            <a:ext cx="5212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Ejecución del programa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532120" y="54864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DD6B20"/>
          </a:solidFill>
        </p:spPr>
      </p:sp>
      <p:sp>
        <p:nvSpPr>
          <p:cNvPr id="5" name="Text 3"/>
          <p:cNvSpPr/>
          <p:nvPr/>
        </p:nvSpPr>
        <p:spPr>
          <a:xfrm>
            <a:off x="5532120" y="73152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Puerto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269480" y="54864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3776AB"/>
          </a:solidFill>
        </p:spPr>
      </p:sp>
      <p:sp>
        <p:nvSpPr>
          <p:cNvPr id="7" name="Text 5"/>
          <p:cNvSpPr/>
          <p:nvPr/>
        </p:nvSpPr>
        <p:spPr>
          <a:xfrm>
            <a:off x="7269480" y="73152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502920"/>
            <a:ext cx="8686800" cy="320040"/>
          </a:xfrm>
          <a:prstGeom prst="roundRect">
            <a:avLst>
              <a:gd name="adj" fmla="val 11429"/>
            </a:avLst>
          </a:prstGeom>
          <a:solidFill>
            <a:srgbClr val="C53030"/>
          </a:solidFill>
        </p:spPr>
      </p:sp>
      <p:sp>
        <p:nvSpPr>
          <p:cNvPr id="9" name="Text 7"/>
          <p:cNvSpPr/>
          <p:nvPr/>
        </p:nvSpPr>
        <p:spPr>
          <a:xfrm>
            <a:off x="365760" y="530352"/>
            <a:ext cx="84124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  Ejecución — linea_espera_2_puerto_grafico.py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909320"/>
            <a:ext cx="8503920" cy="2108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linea_espera_2_puerto_grafico.py — cambiar número de muelles y observar Wq/Lq.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1691640"/>
            <a:ext cx="7680960" cy="2651760"/>
          </a:xfrm>
          <a:prstGeom prst="roundRect">
            <a:avLst>
              <a:gd name="adj" fmla="val 2759"/>
            </a:avLst>
          </a:prstGeom>
          <a:solidFill>
            <a:srgbClr val="EDF2F7"/>
          </a:solidFill>
          <a:ln w="19050">
            <a:solidFill>
              <a:srgbClr val="A0AEC0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731520" y="2651760"/>
            <a:ext cx="76809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Inserta aquí la captura de pantalla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 la ejecución de este archivo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28600" y="4773168"/>
            <a:ext cx="80467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José Ángel Gómez Rincón | 241260049 | Tema 4 · Actividad 4.2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366760" y="4773168"/>
            <a:ext cx="457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63</a:t>
            </a:r>
            <a:endParaRPr lang="en-US" sz="900" dirty="0"/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090" y="1123315"/>
            <a:ext cx="8211185" cy="362839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B07219"/>
          </a:solidFill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LineaEspera2PuertoGrafico.java</a:t>
            </a:r>
            <a:endParaRPr lang="en-US" sz="14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228600" y="64008"/>
            <a:ext cx="5212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Importaciones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532120" y="54864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DD6B20"/>
          </a:solidFill>
        </p:spPr>
      </p:sp>
      <p:sp>
        <p:nvSpPr>
          <p:cNvPr id="5" name="Text 3"/>
          <p:cNvSpPr/>
          <p:nvPr/>
        </p:nvSpPr>
        <p:spPr>
          <a:xfrm>
            <a:off x="5532120" y="73152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Puerto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269480" y="54864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B07219"/>
          </a:solidFill>
        </p:spPr>
      </p:sp>
      <p:sp>
        <p:nvSpPr>
          <p:cNvPr id="7" name="Text 5"/>
          <p:cNvSpPr/>
          <p:nvPr/>
        </p:nvSpPr>
        <p:spPr>
          <a:xfrm>
            <a:off x="7269480" y="73152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475488"/>
            <a:ext cx="8686800" cy="274320"/>
          </a:xfrm>
          <a:prstGeom prst="roundRect">
            <a:avLst>
              <a:gd name="adj" fmla="val 13333"/>
            </a:avLst>
          </a:prstGeom>
          <a:solidFill>
            <a:srgbClr val="2B6CB0"/>
          </a:solidFill>
        </p:spPr>
      </p:sp>
      <p:sp>
        <p:nvSpPr>
          <p:cNvPr id="9" name="Text 7"/>
          <p:cNvSpPr/>
          <p:nvPr/>
        </p:nvSpPr>
        <p:spPr>
          <a:xfrm>
            <a:off x="365760" y="502920"/>
            <a:ext cx="84124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📄 LineaEspera2PuertoGrafico.java   ·   Líneas 32 – 39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841248"/>
            <a:ext cx="8686800" cy="1481328"/>
          </a:xfrm>
          <a:prstGeom prst="roundRect">
            <a:avLst>
              <a:gd name="adj" fmla="val 2469"/>
            </a:avLst>
          </a:prstGeom>
          <a:solidFill>
            <a:srgbClr val="F0FFF4"/>
          </a:solidFill>
        </p:spPr>
      </p:sp>
      <p:sp>
        <p:nvSpPr>
          <p:cNvPr id="11" name="Text 9"/>
          <p:cNvSpPr/>
          <p:nvPr/>
        </p:nvSpPr>
        <p:spPr>
          <a:xfrm>
            <a:off x="365760" y="886968"/>
            <a:ext cx="8412480" cy="14081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import javax.swing.*;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import java.awt.*;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import java.awt.geom.Path2D;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import java.util.ArrayDeque;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import java.util.ArrayList;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import java.util.List;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import java.util.Locale;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import java.util.Random;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4571365"/>
            <a:ext cx="8595360" cy="20193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Ocho importaciones: Swing, AWT, Path2D, colecciones, Locale y Random. Relación: 4.1–4.2.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600" y="4773168"/>
            <a:ext cx="80467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José Ángel Gómez Rincón | 241260049 | Tema 4 · Actividad 4.2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366760" y="4773168"/>
            <a:ext cx="457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65</a:t>
            </a:r>
            <a:endParaRPr lang="en-US" sz="900" dirty="0"/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844550"/>
            <a:ext cx="8686800" cy="365887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228600" y="64008"/>
            <a:ext cx="5212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Parámetros, exponencial, erlangC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532120" y="54864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DD6B20"/>
          </a:solidFill>
        </p:spPr>
      </p:sp>
      <p:sp>
        <p:nvSpPr>
          <p:cNvPr id="5" name="Text 3"/>
          <p:cNvSpPr/>
          <p:nvPr/>
        </p:nvSpPr>
        <p:spPr>
          <a:xfrm>
            <a:off x="5532120" y="73152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Puerto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269480" y="54864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B07219"/>
          </a:solidFill>
        </p:spPr>
      </p:sp>
      <p:sp>
        <p:nvSpPr>
          <p:cNvPr id="7" name="Text 5"/>
          <p:cNvSpPr/>
          <p:nvPr/>
        </p:nvSpPr>
        <p:spPr>
          <a:xfrm>
            <a:off x="7269480" y="73152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475488"/>
            <a:ext cx="8686800" cy="274320"/>
          </a:xfrm>
          <a:prstGeom prst="roundRect">
            <a:avLst>
              <a:gd name="adj" fmla="val 13333"/>
            </a:avLst>
          </a:prstGeom>
          <a:solidFill>
            <a:srgbClr val="2B6CB0"/>
          </a:solidFill>
        </p:spPr>
      </p:sp>
      <p:sp>
        <p:nvSpPr>
          <p:cNvPr id="9" name="Text 7"/>
          <p:cNvSpPr/>
          <p:nvPr/>
        </p:nvSpPr>
        <p:spPr>
          <a:xfrm>
            <a:off x="365760" y="502920"/>
            <a:ext cx="84124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📄 LineaEspera2PuertoGrafico.java   ·   Líneas 41 – 135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841248"/>
            <a:ext cx="8686800" cy="822960"/>
          </a:xfrm>
          <a:prstGeom prst="roundRect">
            <a:avLst>
              <a:gd name="adj" fmla="val 4444"/>
            </a:avLst>
          </a:prstGeom>
          <a:solidFill>
            <a:srgbClr val="F0FFF4"/>
          </a:solidFill>
        </p:spPr>
      </p:sp>
      <p:sp>
        <p:nvSpPr>
          <p:cNvPr id="11" name="Text 9"/>
          <p:cNvSpPr/>
          <p:nvPr/>
        </p:nvSpPr>
        <p:spPr>
          <a:xfrm>
            <a:off x="365760" y="886968"/>
            <a:ext cx="841248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TASA_LLEGADA=1.0; TASA_SERVICIO=0.4;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SERVIDORES_INICIAL=3;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static double exponencial(...)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static Teoria erlangC(int c, ...)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28600" y="4516755"/>
            <a:ext cx="8595360" cy="2565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Configuración multi-muelle y validación teórica. Relación: 4.3.1 y 4.4.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600" y="4773168"/>
            <a:ext cx="80467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José Ángel Gómez Rincón | 241260049 | Tema 4 · Actividad 4.2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366760" y="4773168"/>
            <a:ext cx="457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66</a:t>
            </a:r>
            <a:endParaRPr lang="en-US" sz="900" dirty="0"/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8285" y="813435"/>
            <a:ext cx="8662670" cy="3918585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Imagen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1275"/>
            <a:ext cx="9144000" cy="5060315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228600" y="64008"/>
            <a:ext cx="5212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Cliente y Modelo multi-servidor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532120" y="54864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DD6B20"/>
          </a:solidFill>
        </p:spPr>
      </p:sp>
      <p:sp>
        <p:nvSpPr>
          <p:cNvPr id="5" name="Text 3"/>
          <p:cNvSpPr/>
          <p:nvPr/>
        </p:nvSpPr>
        <p:spPr>
          <a:xfrm>
            <a:off x="5532120" y="73152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Puerto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269480" y="54864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B07219"/>
          </a:solidFill>
        </p:spPr>
      </p:sp>
      <p:sp>
        <p:nvSpPr>
          <p:cNvPr id="7" name="Text 5"/>
          <p:cNvSpPr/>
          <p:nvPr/>
        </p:nvSpPr>
        <p:spPr>
          <a:xfrm>
            <a:off x="7269480" y="73152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475488"/>
            <a:ext cx="8686800" cy="274320"/>
          </a:xfrm>
          <a:prstGeom prst="roundRect">
            <a:avLst>
              <a:gd name="adj" fmla="val 13333"/>
            </a:avLst>
          </a:prstGeom>
          <a:solidFill>
            <a:srgbClr val="2B6CB0"/>
          </a:solidFill>
        </p:spPr>
      </p:sp>
      <p:sp>
        <p:nvSpPr>
          <p:cNvPr id="9" name="Text 7"/>
          <p:cNvSpPr/>
          <p:nvPr/>
        </p:nvSpPr>
        <p:spPr>
          <a:xfrm>
            <a:off x="365760" y="502920"/>
            <a:ext cx="84124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📄 LineaEspera2PuertoGrafico.java   ·   Líneas 193 – 325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841248"/>
            <a:ext cx="8686800" cy="987552"/>
          </a:xfrm>
          <a:prstGeom prst="roundRect">
            <a:avLst>
              <a:gd name="adj" fmla="val 3704"/>
            </a:avLst>
          </a:prstGeom>
          <a:solidFill>
            <a:srgbClr val="F0FFF4"/>
          </a:solidFill>
        </p:spPr>
      </p:sp>
      <p:sp>
        <p:nvSpPr>
          <p:cNvPr id="11" name="Text 9"/>
          <p:cNvSpPr/>
          <p:nvPr/>
        </p:nvSpPr>
        <p:spPr>
          <a:xfrm>
            <a:off x="365760" y="886968"/>
            <a:ext cx="84124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static class Cliente { ...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static class Modelo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Cliente[] servidores; double[] fin;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llegada / salida / avanzar / terminado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28600" y="4571365"/>
            <a:ext cx="8595360" cy="20193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Cola FIFO y c servidores. Relación: 4.3.1.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600" y="4773168"/>
            <a:ext cx="80467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José Ángel Gómez Rincón | 241260049 | Tema 4 · Actividad 4.2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366760" y="4773168"/>
            <a:ext cx="457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67</a:t>
            </a:r>
            <a:endParaRPr lang="en-US" sz="900" dirty="0"/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570" y="814705"/>
            <a:ext cx="8639175" cy="391414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Imagen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228600" y="64008"/>
            <a:ext cx="5212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App, PanelLienzo, PanelGraf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532120" y="54864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DD6B20"/>
          </a:solidFill>
        </p:spPr>
      </p:sp>
      <p:sp>
        <p:nvSpPr>
          <p:cNvPr id="5" name="Text 3"/>
          <p:cNvSpPr/>
          <p:nvPr/>
        </p:nvSpPr>
        <p:spPr>
          <a:xfrm>
            <a:off x="5532120" y="73152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Puerto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269480" y="54864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B07219"/>
          </a:solidFill>
        </p:spPr>
      </p:sp>
      <p:sp>
        <p:nvSpPr>
          <p:cNvPr id="7" name="Text 5"/>
          <p:cNvSpPr/>
          <p:nvPr/>
        </p:nvSpPr>
        <p:spPr>
          <a:xfrm>
            <a:off x="7269480" y="73152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475488"/>
            <a:ext cx="8686800" cy="274320"/>
          </a:xfrm>
          <a:prstGeom prst="roundRect">
            <a:avLst>
              <a:gd name="adj" fmla="val 13333"/>
            </a:avLst>
          </a:prstGeom>
          <a:solidFill>
            <a:srgbClr val="2B6CB0"/>
          </a:solidFill>
        </p:spPr>
      </p:sp>
      <p:sp>
        <p:nvSpPr>
          <p:cNvPr id="9" name="Text 7"/>
          <p:cNvSpPr/>
          <p:nvPr/>
        </p:nvSpPr>
        <p:spPr>
          <a:xfrm>
            <a:off x="365760" y="502920"/>
            <a:ext cx="84124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📄 LineaEspera2PuertoGrafico.java   ·   Líneas 327 – 757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841248"/>
            <a:ext cx="8686800" cy="822960"/>
          </a:xfrm>
          <a:prstGeom prst="roundRect">
            <a:avLst>
              <a:gd name="adj" fmla="val 4444"/>
            </a:avLst>
          </a:prstGeom>
          <a:solidFill>
            <a:srgbClr val="F0FFF4"/>
          </a:solidFill>
        </p:spPr>
      </p:sp>
      <p:sp>
        <p:nvSpPr>
          <p:cNvPr id="11" name="Text 9"/>
          <p:cNvSpPr/>
          <p:nvPr/>
        </p:nvSpPr>
        <p:spPr>
          <a:xfrm>
            <a:off x="365760" y="886968"/>
            <a:ext cx="841248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static class App { ...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class PanelLienzo extends JPanel { ...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class PanelGraf extends JPanel { ...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public static void main(...)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28600" y="4552950"/>
            <a:ext cx="8595360" cy="22034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Interfaz completa multi-muelle con stats y gráficas. Relación: 4.2 y 4.4.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600" y="4773168"/>
            <a:ext cx="80467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José Ángel Gómez Rincón | 241260049 | Tema 4 · Actividad 4.2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366760" y="4773168"/>
            <a:ext cx="457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68</a:t>
            </a:r>
            <a:endParaRPr lang="en-US" sz="900" dirty="0"/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814070"/>
            <a:ext cx="8641080" cy="3717925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228600" y="64008"/>
            <a:ext cx="5212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Ejecución del programa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532120" y="54864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DD6B20"/>
          </a:solidFill>
        </p:spPr>
      </p:sp>
      <p:sp>
        <p:nvSpPr>
          <p:cNvPr id="5" name="Text 3"/>
          <p:cNvSpPr/>
          <p:nvPr/>
        </p:nvSpPr>
        <p:spPr>
          <a:xfrm>
            <a:off x="5532120" y="73152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Puerto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269480" y="54864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B07219"/>
          </a:solidFill>
        </p:spPr>
      </p:sp>
      <p:sp>
        <p:nvSpPr>
          <p:cNvPr id="7" name="Text 5"/>
          <p:cNvSpPr/>
          <p:nvPr/>
        </p:nvSpPr>
        <p:spPr>
          <a:xfrm>
            <a:off x="7269480" y="73152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502920"/>
            <a:ext cx="8686800" cy="320040"/>
          </a:xfrm>
          <a:prstGeom prst="roundRect">
            <a:avLst>
              <a:gd name="adj" fmla="val 11429"/>
            </a:avLst>
          </a:prstGeom>
          <a:solidFill>
            <a:srgbClr val="C53030"/>
          </a:solidFill>
        </p:spPr>
      </p:sp>
      <p:sp>
        <p:nvSpPr>
          <p:cNvPr id="9" name="Text 7"/>
          <p:cNvSpPr/>
          <p:nvPr/>
        </p:nvSpPr>
        <p:spPr>
          <a:xfrm>
            <a:off x="365760" y="530352"/>
            <a:ext cx="84124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  Ejecución — LineaEspera2PuertoGrafico.java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" y="822960"/>
            <a:ext cx="8503920" cy="2095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javac LineaEspera2PuertoGrafico.java &amp;&amp; java LineaEspera2PuertoGrafico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1691640"/>
            <a:ext cx="7680960" cy="2651760"/>
          </a:xfrm>
          <a:prstGeom prst="roundRect">
            <a:avLst>
              <a:gd name="adj" fmla="val 2759"/>
            </a:avLst>
          </a:prstGeom>
          <a:solidFill>
            <a:srgbClr val="EDF2F7"/>
          </a:solidFill>
          <a:ln w="19050">
            <a:solidFill>
              <a:srgbClr val="A0AEC0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731520" y="2651760"/>
            <a:ext cx="76809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Inserta aquí la captura de pantalla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 la ejecución de este archivo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28600" y="4773168"/>
            <a:ext cx="80467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José Ángel Gómez Rincón | 241260049 | Tema 4 · Actividad 4.2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366760" y="4773168"/>
            <a:ext cx="457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69</a:t>
            </a:r>
            <a:endParaRPr lang="en-US" sz="900" dirty="0"/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180" y="1069340"/>
            <a:ext cx="8803005" cy="3664585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6DC3"/>
          </a:solidFill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linea_espera_2_puerto.R</a:t>
            </a:r>
            <a:endParaRPr lang="en-US" sz="14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228600" y="64008"/>
            <a:ext cx="5212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Configuración y generadores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532120" y="54864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DD6B20"/>
          </a:solidFill>
        </p:spPr>
      </p:sp>
      <p:sp>
        <p:nvSpPr>
          <p:cNvPr id="5" name="Text 3"/>
          <p:cNvSpPr/>
          <p:nvPr/>
        </p:nvSpPr>
        <p:spPr>
          <a:xfrm>
            <a:off x="5532120" y="73152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Puerto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269480" y="54864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276DC3"/>
          </a:solidFill>
        </p:spPr>
      </p:sp>
      <p:sp>
        <p:nvSpPr>
          <p:cNvPr id="7" name="Text 5"/>
          <p:cNvSpPr/>
          <p:nvPr/>
        </p:nvSpPr>
        <p:spPr>
          <a:xfrm>
            <a:off x="7269480" y="73152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475488"/>
            <a:ext cx="8686800" cy="274320"/>
          </a:xfrm>
          <a:prstGeom prst="roundRect">
            <a:avLst>
              <a:gd name="adj" fmla="val 13333"/>
            </a:avLst>
          </a:prstGeom>
          <a:solidFill>
            <a:srgbClr val="2B6CB0"/>
          </a:solidFill>
        </p:spPr>
      </p:sp>
      <p:sp>
        <p:nvSpPr>
          <p:cNvPr id="9" name="Text 7"/>
          <p:cNvSpPr/>
          <p:nvPr/>
        </p:nvSpPr>
        <p:spPr>
          <a:xfrm>
            <a:off x="365760" y="502920"/>
            <a:ext cx="84124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📄 linea_espera_2_puerto.R   ·   Líneas 15 – 42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841248"/>
            <a:ext cx="8686800" cy="658368"/>
          </a:xfrm>
          <a:prstGeom prst="roundRect">
            <a:avLst>
              <a:gd name="adj" fmla="val 5556"/>
            </a:avLst>
          </a:prstGeom>
          <a:solidFill>
            <a:srgbClr val="F0FFF4"/>
          </a:solidFill>
        </p:spPr>
      </p:sp>
      <p:sp>
        <p:nvSpPr>
          <p:cNvPr id="11" name="Text 9"/>
          <p:cNvSpPr/>
          <p:nvPr/>
        </p:nvSpPr>
        <p:spPr>
          <a:xfrm>
            <a:off x="365760" y="886968"/>
            <a:ext cx="8412480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TASA_LLEGADA &lt;- 1.0; TASA_SERVICIO &lt;- 0.4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SERVIDORES_INICIAL &lt;- 3; COMPARAR_MUELLES &lt;- 1:6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exponencial / erlang_c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" y="4528185"/>
            <a:ext cx="8595360" cy="15113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Parámetros y teoría M/M/c. Relación: 4.3.1 y 4.4.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600" y="4773168"/>
            <a:ext cx="80467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José Ángel Gómez Rincón | 241260049 | Tema 4 · Actividad 4.2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366760" y="4773168"/>
            <a:ext cx="457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71</a:t>
            </a:r>
            <a:endParaRPr lang="en-US" sz="900" dirty="0"/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7965" y="844550"/>
            <a:ext cx="8687435" cy="3550920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228600" y="64008"/>
            <a:ext cx="5212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simular() multi-servidor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532120" y="54864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DD6B20"/>
          </a:solidFill>
        </p:spPr>
      </p:sp>
      <p:sp>
        <p:nvSpPr>
          <p:cNvPr id="5" name="Text 3"/>
          <p:cNvSpPr/>
          <p:nvPr/>
        </p:nvSpPr>
        <p:spPr>
          <a:xfrm>
            <a:off x="5532120" y="73152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Puerto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269480" y="54864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276DC3"/>
          </a:solidFill>
        </p:spPr>
      </p:sp>
      <p:sp>
        <p:nvSpPr>
          <p:cNvPr id="7" name="Text 5"/>
          <p:cNvSpPr/>
          <p:nvPr/>
        </p:nvSpPr>
        <p:spPr>
          <a:xfrm>
            <a:off x="7269480" y="73152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475488"/>
            <a:ext cx="8686800" cy="274320"/>
          </a:xfrm>
          <a:prstGeom prst="roundRect">
            <a:avLst>
              <a:gd name="adj" fmla="val 13333"/>
            </a:avLst>
          </a:prstGeom>
          <a:solidFill>
            <a:srgbClr val="2B6CB0"/>
          </a:solidFill>
        </p:spPr>
      </p:sp>
      <p:sp>
        <p:nvSpPr>
          <p:cNvPr id="9" name="Text 7"/>
          <p:cNvSpPr/>
          <p:nvPr/>
        </p:nvSpPr>
        <p:spPr>
          <a:xfrm>
            <a:off x="365760" y="502920"/>
            <a:ext cx="84124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📄 linea_espera_2_puerto.R   ·   Líneas 43 – 112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841248"/>
            <a:ext cx="8686800" cy="822960"/>
          </a:xfrm>
          <a:prstGeom prst="roundRect">
            <a:avLst>
              <a:gd name="adj" fmla="val 4444"/>
            </a:avLst>
          </a:prstGeom>
          <a:solidFill>
            <a:srgbClr val="F0FFF4"/>
          </a:solidFill>
        </p:spPr>
      </p:sp>
      <p:sp>
        <p:nvSpPr>
          <p:cNvPr id="11" name="Text 9"/>
          <p:cNvSpPr/>
          <p:nvPr/>
        </p:nvSpPr>
        <p:spPr>
          <a:xfrm>
            <a:off x="365760" y="886968"/>
            <a:ext cx="841248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simular &lt;- function(c, max_atendidos)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ocupado[c], fin[c], cola_ll, cola_sv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# llegada / fin de servicio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" y="4571365"/>
            <a:ext cx="8595360" cy="20193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Eventos con c muelles. Relación: 4.3.1.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600" y="4773168"/>
            <a:ext cx="80467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José Ángel Gómez Rincón | 241260049 | Tema 4 · Actividad 4.2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366760" y="4773168"/>
            <a:ext cx="457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72</a:t>
            </a:r>
            <a:endParaRPr lang="en-US" sz="900" dirty="0"/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5110" y="814070"/>
            <a:ext cx="8670290" cy="3907790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Imagen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35" y="0"/>
            <a:ext cx="9144635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228600" y="64008"/>
            <a:ext cx="5212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Informe y comparación de muelles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532120" y="54864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DD6B20"/>
          </a:solidFill>
        </p:spPr>
      </p:sp>
      <p:sp>
        <p:nvSpPr>
          <p:cNvPr id="5" name="Text 3"/>
          <p:cNvSpPr/>
          <p:nvPr/>
        </p:nvSpPr>
        <p:spPr>
          <a:xfrm>
            <a:off x="5532120" y="73152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Puerto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269480" y="54864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276DC3"/>
          </a:solidFill>
        </p:spPr>
      </p:sp>
      <p:sp>
        <p:nvSpPr>
          <p:cNvPr id="7" name="Text 5"/>
          <p:cNvSpPr/>
          <p:nvPr/>
        </p:nvSpPr>
        <p:spPr>
          <a:xfrm>
            <a:off x="7269480" y="73152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475488"/>
            <a:ext cx="8686800" cy="274320"/>
          </a:xfrm>
          <a:prstGeom prst="roundRect">
            <a:avLst>
              <a:gd name="adj" fmla="val 13333"/>
            </a:avLst>
          </a:prstGeom>
          <a:solidFill>
            <a:srgbClr val="2B6CB0"/>
          </a:solidFill>
        </p:spPr>
      </p:sp>
      <p:sp>
        <p:nvSpPr>
          <p:cNvPr id="9" name="Text 7"/>
          <p:cNvSpPr/>
          <p:nvPr/>
        </p:nvSpPr>
        <p:spPr>
          <a:xfrm>
            <a:off x="365760" y="502920"/>
            <a:ext cx="84124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📄 linea_espera_2_puerto.R   ·   Líneas 113 – 151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841248"/>
            <a:ext cx="8686800" cy="493776"/>
          </a:xfrm>
          <a:prstGeom prst="roundRect">
            <a:avLst>
              <a:gd name="adj" fmla="val 7407"/>
            </a:avLst>
          </a:prstGeom>
          <a:solidFill>
            <a:srgbClr val="F0FFF4"/>
          </a:solidFill>
        </p:spPr>
      </p:sp>
      <p:sp>
        <p:nvSpPr>
          <p:cNvPr id="11" name="Text 9"/>
          <p:cNvSpPr/>
          <p:nvPr/>
        </p:nvSpPr>
        <p:spPr>
          <a:xfrm>
            <a:off x="365760" y="886968"/>
            <a:ext cx="841248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imprimir_resultado(simular(3))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for (cc in 1:6) comparar Wq/Lq/rho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2880" y="4519295"/>
            <a:ext cx="8595360" cy="254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Tabla comparativa al variar c. Relación: 4.2 y 4.4.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600" y="4773168"/>
            <a:ext cx="80467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José Ángel Gómez Rincón | 241260049 | Tema 4 · Actividad 4.2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366760" y="4773168"/>
            <a:ext cx="457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73</a:t>
            </a:r>
            <a:endParaRPr lang="en-US" sz="900" dirty="0"/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853440"/>
            <a:ext cx="8686800" cy="3668395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228600" y="64008"/>
            <a:ext cx="5212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Ejecución del programa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532120" y="54864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DD6B20"/>
          </a:solidFill>
        </p:spPr>
      </p:sp>
      <p:sp>
        <p:nvSpPr>
          <p:cNvPr id="5" name="Text 3"/>
          <p:cNvSpPr/>
          <p:nvPr/>
        </p:nvSpPr>
        <p:spPr>
          <a:xfrm>
            <a:off x="5532120" y="73152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Puerto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269480" y="54864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276DC3"/>
          </a:solidFill>
        </p:spPr>
      </p:sp>
      <p:sp>
        <p:nvSpPr>
          <p:cNvPr id="7" name="Text 5"/>
          <p:cNvSpPr/>
          <p:nvPr/>
        </p:nvSpPr>
        <p:spPr>
          <a:xfrm>
            <a:off x="7269480" y="73152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502920"/>
            <a:ext cx="8686800" cy="320040"/>
          </a:xfrm>
          <a:prstGeom prst="roundRect">
            <a:avLst>
              <a:gd name="adj" fmla="val 11429"/>
            </a:avLst>
          </a:prstGeom>
          <a:solidFill>
            <a:srgbClr val="C53030"/>
          </a:solidFill>
        </p:spPr>
      </p:sp>
      <p:sp>
        <p:nvSpPr>
          <p:cNvPr id="9" name="Text 7"/>
          <p:cNvSpPr/>
          <p:nvPr/>
        </p:nvSpPr>
        <p:spPr>
          <a:xfrm>
            <a:off x="365760" y="530352"/>
            <a:ext cx="84124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  Ejecución — linea_espera_2_puerto.R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" y="960120"/>
            <a:ext cx="8503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Rscript linea_espera_2_puerto.R — resultado c=3 y tabla para c=1..6.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1691640"/>
            <a:ext cx="7680960" cy="2651760"/>
          </a:xfrm>
          <a:prstGeom prst="roundRect">
            <a:avLst>
              <a:gd name="adj" fmla="val 2759"/>
            </a:avLst>
          </a:prstGeom>
          <a:solidFill>
            <a:srgbClr val="EDF2F7"/>
          </a:solidFill>
          <a:ln w="19050">
            <a:solidFill>
              <a:srgbClr val="A0AEC0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731520" y="2651760"/>
            <a:ext cx="76809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Inserta aquí la captura de pantalla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 la ejecución de este archivo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28600" y="4773168"/>
            <a:ext cx="80467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José Ángel Gómez Rincón | 241260049 | Tema 4 · Actividad 4.2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366760" y="4773168"/>
            <a:ext cx="457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74</a:t>
            </a:r>
            <a:endParaRPr lang="en-US" sz="900" dirty="0"/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421765"/>
            <a:ext cx="8503920" cy="3339465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228600" y="64008"/>
            <a:ext cx="5212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Comparación de implementaciones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28600" y="548640"/>
            <a:ext cx="1920240" cy="59436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5" name="Text 3"/>
          <p:cNvSpPr/>
          <p:nvPr/>
        </p:nvSpPr>
        <p:spPr>
          <a:xfrm>
            <a:off x="274320" y="713232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Aspecto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148840" y="548640"/>
            <a:ext cx="2286000" cy="59436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7" name="Text 5"/>
          <p:cNvSpPr/>
          <p:nvPr/>
        </p:nvSpPr>
        <p:spPr>
          <a:xfrm>
            <a:off x="2194560" y="713232"/>
            <a:ext cx="2194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34840" y="548640"/>
            <a:ext cx="2286000" cy="59436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9" name="Text 7"/>
          <p:cNvSpPr/>
          <p:nvPr/>
        </p:nvSpPr>
        <p:spPr>
          <a:xfrm>
            <a:off x="4480560" y="713232"/>
            <a:ext cx="2194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720840" y="548640"/>
            <a:ext cx="2194560" cy="59436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11" name="Text 9"/>
          <p:cNvSpPr/>
          <p:nvPr/>
        </p:nvSpPr>
        <p:spPr>
          <a:xfrm>
            <a:off x="6766560" y="713232"/>
            <a:ext cx="2103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8600" y="1143000"/>
            <a:ext cx="1920240" cy="59436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3" name="Text 11"/>
          <p:cNvSpPr/>
          <p:nvPr/>
        </p:nvSpPr>
        <p:spPr>
          <a:xfrm>
            <a:off x="274320" y="1307592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GUI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148840" y="1143000"/>
            <a:ext cx="2286000" cy="59436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5" name="Text 13"/>
          <p:cNvSpPr/>
          <p:nvPr/>
        </p:nvSpPr>
        <p:spPr>
          <a:xfrm>
            <a:off x="2194560" y="1307592"/>
            <a:ext cx="2194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tkinter + Canvas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434840" y="1143000"/>
            <a:ext cx="2286000" cy="59436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7" name="Text 15"/>
          <p:cNvSpPr/>
          <p:nvPr/>
        </p:nvSpPr>
        <p:spPr>
          <a:xfrm>
            <a:off x="4480560" y="1307592"/>
            <a:ext cx="2194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Swing + Timer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720840" y="1143000"/>
            <a:ext cx="2194560" cy="59436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9" name="Text 17"/>
          <p:cNvSpPr/>
          <p:nvPr/>
        </p:nvSpPr>
        <p:spPr>
          <a:xfrm>
            <a:off x="6766560" y="1307592"/>
            <a:ext cx="2103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Consola / plot()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28600" y="1737360"/>
            <a:ext cx="1920240" cy="594360"/>
          </a:xfrm>
          <a:prstGeom prst="rect">
            <a:avLst/>
          </a:prstGeom>
          <a:solidFill>
            <a:srgbClr val="EDF2F7"/>
          </a:solidFill>
        </p:spPr>
      </p:sp>
      <p:sp>
        <p:nvSpPr>
          <p:cNvPr id="21" name="Text 19"/>
          <p:cNvSpPr/>
          <p:nvPr/>
        </p:nvSpPr>
        <p:spPr>
          <a:xfrm>
            <a:off x="274320" y="1901952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148840" y="1737360"/>
            <a:ext cx="2286000" cy="594360"/>
          </a:xfrm>
          <a:prstGeom prst="rect">
            <a:avLst/>
          </a:prstGeom>
          <a:solidFill>
            <a:srgbClr val="EDF2F7"/>
          </a:solidFill>
        </p:spPr>
      </p:sp>
      <p:sp>
        <p:nvSpPr>
          <p:cNvPr id="23" name="Text 21"/>
          <p:cNvSpPr/>
          <p:nvPr/>
        </p:nvSpPr>
        <p:spPr>
          <a:xfrm>
            <a:off x="2194560" y="1901952"/>
            <a:ext cx="2194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random + TI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34840" y="1737360"/>
            <a:ext cx="2286000" cy="594360"/>
          </a:xfrm>
          <a:prstGeom prst="rect">
            <a:avLst/>
          </a:prstGeom>
          <a:solidFill>
            <a:srgbClr val="EDF2F7"/>
          </a:solidFill>
        </p:spPr>
      </p:sp>
      <p:sp>
        <p:nvSpPr>
          <p:cNvPr id="25" name="Text 23"/>
          <p:cNvSpPr/>
          <p:nvPr/>
        </p:nvSpPr>
        <p:spPr>
          <a:xfrm>
            <a:off x="4480560" y="1901952"/>
            <a:ext cx="2194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Random + TI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720840" y="1737360"/>
            <a:ext cx="2194560" cy="594360"/>
          </a:xfrm>
          <a:prstGeom prst="rect">
            <a:avLst/>
          </a:prstGeom>
          <a:solidFill>
            <a:srgbClr val="EDF2F7"/>
          </a:solidFill>
        </p:spPr>
      </p:sp>
      <p:sp>
        <p:nvSpPr>
          <p:cNvPr id="27" name="Text 25"/>
          <p:cNvSpPr/>
          <p:nvPr/>
        </p:nvSpPr>
        <p:spPr>
          <a:xfrm>
            <a:off x="6766560" y="1901952"/>
            <a:ext cx="2103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runif + TI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28600" y="2331720"/>
            <a:ext cx="1920240" cy="59436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9" name="Text 27"/>
          <p:cNvSpPr/>
          <p:nvPr/>
        </p:nvSpPr>
        <p:spPr>
          <a:xfrm>
            <a:off x="274320" y="2496312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Inventario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148840" y="2331720"/>
            <a:ext cx="2286000" cy="59436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1" name="Text 29"/>
          <p:cNvSpPr/>
          <p:nvPr/>
        </p:nvSpPr>
        <p:spPr>
          <a:xfrm>
            <a:off x="2194560" y="2496312"/>
            <a:ext cx="2194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 pestañas + 3D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434840" y="2331720"/>
            <a:ext cx="2286000" cy="59436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3" name="Text 31"/>
          <p:cNvSpPr/>
          <p:nvPr/>
        </p:nvSpPr>
        <p:spPr>
          <a:xfrm>
            <a:off x="4480560" y="2496312"/>
            <a:ext cx="2194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 pestañas + 3D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720840" y="2331720"/>
            <a:ext cx="2194560" cy="59436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5" name="Text 33"/>
          <p:cNvSpPr/>
          <p:nvPr/>
        </p:nvSpPr>
        <p:spPr>
          <a:xfrm>
            <a:off x="6766560" y="2496312"/>
            <a:ext cx="2103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tabla + plot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28600" y="2926080"/>
            <a:ext cx="1920240" cy="594360"/>
          </a:xfrm>
          <a:prstGeom prst="rect">
            <a:avLst/>
          </a:prstGeom>
          <a:solidFill>
            <a:srgbClr val="EDF2F7"/>
          </a:solidFill>
        </p:spPr>
      </p:sp>
      <p:sp>
        <p:nvSpPr>
          <p:cNvPr id="37" name="Text 35"/>
          <p:cNvSpPr/>
          <p:nvPr/>
        </p:nvSpPr>
        <p:spPr>
          <a:xfrm>
            <a:off x="274320" y="3090672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M/M/1 y M/M/c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148840" y="2926080"/>
            <a:ext cx="2286000" cy="594360"/>
          </a:xfrm>
          <a:prstGeom prst="rect">
            <a:avLst/>
          </a:prstGeom>
          <a:solidFill>
            <a:srgbClr val="EDF2F7"/>
          </a:solidFill>
        </p:spPr>
      </p:sp>
      <p:sp>
        <p:nvSpPr>
          <p:cNvPr id="39" name="Text 37"/>
          <p:cNvSpPr/>
          <p:nvPr/>
        </p:nvSpPr>
        <p:spPr>
          <a:xfrm>
            <a:off x="2194560" y="3090672"/>
            <a:ext cx="2194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animación + stats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434840" y="2926080"/>
            <a:ext cx="2286000" cy="594360"/>
          </a:xfrm>
          <a:prstGeom prst="rect">
            <a:avLst/>
          </a:prstGeom>
          <a:solidFill>
            <a:srgbClr val="EDF2F7"/>
          </a:solidFill>
        </p:spPr>
      </p:sp>
      <p:sp>
        <p:nvSpPr>
          <p:cNvPr id="41" name="Text 39"/>
          <p:cNvSpPr/>
          <p:nvPr/>
        </p:nvSpPr>
        <p:spPr>
          <a:xfrm>
            <a:off x="4480560" y="3090672"/>
            <a:ext cx="2194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animación + stats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720840" y="2926080"/>
            <a:ext cx="2194560" cy="594360"/>
          </a:xfrm>
          <a:prstGeom prst="rect">
            <a:avLst/>
          </a:prstGeom>
          <a:solidFill>
            <a:srgbClr val="EDF2F7"/>
          </a:solidFill>
        </p:spPr>
      </p:sp>
      <p:sp>
        <p:nvSpPr>
          <p:cNvPr id="43" name="Text 41"/>
          <p:cNvSpPr/>
          <p:nvPr/>
        </p:nvSpPr>
        <p:spPr>
          <a:xfrm>
            <a:off x="6766560" y="3090672"/>
            <a:ext cx="2103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tabla vs teoría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28600" y="3520440"/>
            <a:ext cx="1920240" cy="59436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5" name="Text 43"/>
          <p:cNvSpPr/>
          <p:nvPr/>
        </p:nvSpPr>
        <p:spPr>
          <a:xfrm>
            <a:off x="274320" y="3685032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Validación 4.4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148840" y="3520440"/>
            <a:ext cx="2286000" cy="59436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7" name="Text 45"/>
          <p:cNvSpPr/>
          <p:nvPr/>
        </p:nvSpPr>
        <p:spPr>
          <a:xfrm>
            <a:off x="2194560" y="3685032"/>
            <a:ext cx="2194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 vs teoría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434840" y="3520440"/>
            <a:ext cx="2286000" cy="59436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9" name="Text 47"/>
          <p:cNvSpPr/>
          <p:nvPr/>
        </p:nvSpPr>
        <p:spPr>
          <a:xfrm>
            <a:off x="4480560" y="3685032"/>
            <a:ext cx="2194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 vs teoría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720840" y="3520440"/>
            <a:ext cx="2194560" cy="59436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1" name="Text 49"/>
          <p:cNvSpPr/>
          <p:nvPr/>
        </p:nvSpPr>
        <p:spPr>
          <a:xfrm>
            <a:off x="6766560" y="3685032"/>
            <a:ext cx="2103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 vs teoría + réplicas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228600" y="4773168"/>
            <a:ext cx="80467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José Ángel Gómez Rincón | 241260049 | Tema 4 · Actividad 4.2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8366760" y="4773168"/>
            <a:ext cx="457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75</a:t>
            </a:r>
            <a:endParaRPr lang="en-US" sz="9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228600" y="64008"/>
            <a:ext cx="5212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Conclusión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20040" y="594360"/>
            <a:ext cx="850392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 documentaron nueve archivos fuente (tres ejemplos × tres lenguajes) bloque por bloque: importaciones, parámetros, generadores de variables aleatorias, motor de eventos, interfaz gráfica o salida en consola, y punto de entrada. Cada bloque se relacionó con los subtemas 4.1 a 4.4 de la Instrumentación Didáctica.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20040" y="1828800"/>
            <a:ext cx="850392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y Java ofrecen un entorno gráfico animado con panel de resultados y contraste frente a la teoría; R se centra en la bitácora numérica, la búsqueda de la mejor política (Q,R) y la comparación de capacidad (número de muelles). Con ello se cumple la competencia 4: simular líneas de espera e inventarios aplicando un lenguaje/simulador y validando los resultados.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28600" y="4773168"/>
            <a:ext cx="80467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José Ángel Gómez Rincón | 241260049 | Tema 4 · Actividad 4.2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366760" y="4773168"/>
            <a:ext cx="457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76</a:t>
            </a:r>
            <a:endParaRPr lang="en-US" sz="9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228600" y="64008"/>
            <a:ext cx="5212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Fuentes de información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74320" y="594360"/>
            <a:ext cx="85953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Instrumentación Didáctica — Simulación (SCD-1022), TecNM. Tema 4: Lenguajes de simulación.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1143000"/>
            <a:ext cx="85953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Oracle. Random (Java SE): https://docs.oracle.com/en/java/javase/21/docs/api/java.base/java/util/Random.html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1691640"/>
            <a:ext cx="85953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Python Software Foundation. random: https://docs.python.org/3/library/random.html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2240280"/>
            <a:ext cx="85953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The R Core Team. Random: https://stat.ethz.ch/R-manual/R-devel/library/base/html/Random.html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2788920"/>
            <a:ext cx="85953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Kelton et al. Simulation with Arena. https://www.mheducation.com/highered/product/simulation-with-arena-kelton.html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3337560"/>
            <a:ext cx="85953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Law, A.M. Simulation Modeling and Analysis. https://www.mheducation.com/highered/mhp/product/simulation-modeling-analysis-sixth-edition.html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28600" y="4773168"/>
            <a:ext cx="80467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José Ángel Gómez Rincón | 241260049 | Tema 4 · Actividad 4.2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366760" y="4773168"/>
            <a:ext cx="457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77</a:t>
            </a:r>
            <a:endParaRPr lang="en-US" sz="9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65D"/>
          </a:solidFill>
        </p:spPr>
        <p:txBody>
          <a:bodyPr/>
          <a:p>
            <a:endParaRPr lang="es-MX" altLang="en-US"/>
          </a:p>
        </p:txBody>
      </p:sp>
      <p:sp>
        <p:nvSpPr>
          <p:cNvPr id="3" name="Text 1"/>
          <p:cNvSpPr/>
          <p:nvPr/>
        </p:nvSpPr>
        <p:spPr>
          <a:xfrm>
            <a:off x="228600" y="64008"/>
            <a:ext cx="5212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s-MX" alt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Anexo Enlace GIT</a:t>
            </a:r>
            <a:endParaRPr lang="es-MX" altLang="en-US" sz="1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25655</Words>
  <Application>WPS Presentation</Application>
  <PresentationFormat>On-screen Show (16:9)</PresentationFormat>
  <Paragraphs>1301</Paragraphs>
  <Slides>90</Slides>
  <Notes>77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90</vt:i4>
      </vt:variant>
    </vt:vector>
  </HeadingPairs>
  <TitlesOfParts>
    <vt:vector size="102" baseType="lpstr">
      <vt:lpstr>Arial</vt:lpstr>
      <vt:lpstr>SimSun</vt:lpstr>
      <vt:lpstr>Wingdings</vt:lpstr>
      <vt:lpstr>Calibri</vt:lpstr>
      <vt:lpstr>Calibri</vt:lpstr>
      <vt:lpstr>Calibri</vt:lpstr>
      <vt:lpstr>Consolas</vt:lpstr>
      <vt:lpstr>Consolas</vt:lpstr>
      <vt:lpstr>Consolas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Actividad 4.2 Reporte de Practica Tema 4 Completo</dc:title>
  <dc:creator>Jose Angel Gomez Rincon</dc:creator>
  <dc:subject>PptxGenJS Presentation</dc:subject>
  <cp:lastModifiedBy>EVIL RABYT</cp:lastModifiedBy>
  <cp:revision>3</cp:revision>
  <dcterms:created xsi:type="dcterms:W3CDTF">2026-10-01T22:04:00Z</dcterms:created>
  <dcterms:modified xsi:type="dcterms:W3CDTF">2026-10-02T09:13:51Z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2058-12.1.0.28485</vt:lpwstr>
  </property>
  <property fmtid="{D5CDD505-2E9C-101B-9397-08002B2CF9AE}" pid="3" name="ICV">
    <vt:lpwstr>52E5D456B948465B8E503CFA7F695019_12</vt:lpwstr>
  </property>
</Properties>
</file>